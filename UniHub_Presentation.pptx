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4572000" cy="320040"/>
          </a:xfrm>
          <a:prstGeom prst="rect">
            <a:avLst/>
          </a:prstGeom>
          <a:noFill/>
          <a:ln/>
        </p:spPr>
        <p:txBody>
          <a:bodyPr wrap="square" lIns="0" tIns="0" rIns="0" bIns="0" rtlCol="0" anchor="ctr"/>
          <a:lstStyle/>
          <a:p>
            <a:pPr indent="0" marL="0">
              <a:buNone/>
            </a:pPr>
            <a:r>
              <a:rPr lang="en-US" sz="1600" b="1" dirty="0">
                <a:solidFill>
                  <a:srgbClr val="17212B"/>
                </a:solidFill>
              </a:rPr>
              <a:t>UniHub Technology Tree</a:t>
            </a:r>
            <a:endParaRPr lang="en-US" sz="1600" dirty="0"/>
          </a:p>
        </p:txBody>
      </p:sp>
      <p:sp>
        <p:nvSpPr>
          <p:cNvPr id="3" name="Text 1"/>
          <p:cNvSpPr/>
          <p:nvPr/>
        </p:nvSpPr>
        <p:spPr>
          <a:xfrm>
            <a:off x="6583680" y="283464"/>
            <a:ext cx="4937760" cy="256032"/>
          </a:xfrm>
          <a:prstGeom prst="rect">
            <a:avLst/>
          </a:prstGeom>
          <a:noFill/>
          <a:ln/>
        </p:spPr>
        <p:txBody>
          <a:bodyPr wrap="square" lIns="0" tIns="0" rIns="0" bIns="0" rtlCol="0" anchor="ctr"/>
          <a:lstStyle/>
          <a:p>
            <a:pPr algn="r" indent="0" marL="0">
              <a:buNone/>
            </a:pPr>
            <a:r>
              <a:rPr lang="en-US" sz="1050" dirty="0">
                <a:solidFill>
                  <a:srgbClr val="5D6976"/>
                </a:solidFill>
              </a:rPr>
              <a:t>Opening visual: languages, tools, and where they are used</a:t>
            </a:r>
            <a:endParaRPr lang="en-US" sz="1050" dirty="0"/>
          </a:p>
        </p:txBody>
      </p:sp>
      <p:pic>
        <p:nvPicPr>
          <p:cNvPr id="4" name="Image 0" descr="C:\Users\moewa\Desktop\UniHub\UniHub_Technology_Tree.jpg">    </p:cNvPr>
          <p:cNvPicPr>
            <a:picLocks noChangeAspect="1"/>
          </p:cNvPicPr>
          <p:nvPr/>
        </p:nvPicPr>
        <p:blipFill>
          <a:blip r:embed="rId1"/>
          <a:stretch>
            <a:fillRect/>
          </a:stretch>
        </p:blipFill>
        <p:spPr>
          <a:xfrm>
            <a:off x="411480" y="749808"/>
            <a:ext cx="11384280" cy="5486400"/>
          </a:xfrm>
          <a:prstGeom prst="rect">
            <a:avLst/>
          </a:prstGeom>
        </p:spPr>
      </p:pic>
      <p:sp>
        <p:nvSpPr>
          <p:cNvPr id="5" name="Text 2"/>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Introduction</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What Is UniHub?</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A full stack student housing and roommate finder web app</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2</a:t>
            </a:r>
            <a:endParaRPr lang="en-US" sz="800" dirty="0"/>
          </a:p>
        </p:txBody>
      </p:sp>
      <p:sp>
        <p:nvSpPr>
          <p:cNvPr id="7" name="Text 5"/>
          <p:cNvSpPr/>
          <p:nvPr/>
        </p:nvSpPr>
        <p:spPr>
          <a:xfrm>
            <a:off x="822960" y="1828800"/>
            <a:ext cx="6035040" cy="3108960"/>
          </a:xfrm>
          <a:prstGeom prst="rect">
            <a:avLst/>
          </a:prstGeom>
          <a:noFill/>
          <a:ln/>
        </p:spPr>
        <p:txBody>
          <a:bodyPr wrap="square" lIns="635" tIns="635" rIns="635" bIns="635" rtlCol="0" anchor="t">
            <a:normAutofit/>
          </a:bodyPr>
          <a:lstStyle/>
          <a:p>
            <a:pPr marL="190500" indent="-190500">
              <a:buSzPct val="100000"/>
              <a:buChar char="•"/>
            </a:pPr>
            <a:r>
              <a:rPr lang="en-US" sz="1550" dirty="0">
                <a:solidFill>
                  <a:srgbClr val="17212B"/>
                </a:solidFill>
              </a:rPr>
              <a:t>UniHub helps students browse dorm listings and roommate profiles in one place.</a:t>
            </a:r>
            <a:endParaRPr lang="en-US" sz="1550" dirty="0"/>
          </a:p>
          <a:p>
            <a:pPr marL="190500" indent="-190500">
              <a:buSzPct val="100000"/>
              <a:buChar char="•"/>
            </a:pPr>
            <a:r>
              <a:rPr lang="en-US" sz="1550" dirty="0">
                <a:solidFill>
                  <a:srgbClr val="17212B"/>
                </a:solidFill>
              </a:rPr>
              <a:t>Users can publish a new dorm listing or a roommate request through forms.</a:t>
            </a:r>
            <a:endParaRPr lang="en-US" sz="1550" dirty="0"/>
          </a:p>
          <a:p>
            <a:pPr marL="190500" indent="-190500">
              <a:buSzPct val="100000"/>
              <a:buChar char="•"/>
            </a:pPr>
            <a:r>
              <a:rPr lang="en-US" sz="1550" dirty="0">
                <a:solidFill>
                  <a:srgbClr val="17212B"/>
                </a:solidFill>
              </a:rPr>
              <a:t>The page updates dynamically after data is submitted.</a:t>
            </a:r>
            <a:endParaRPr lang="en-US" sz="1550" dirty="0"/>
          </a:p>
          <a:p>
            <a:pPr marL="190500" indent="-190500">
              <a:buSzPct val="100000"/>
              <a:buChar char="•"/>
            </a:pPr>
            <a:r>
              <a:rPr lang="en-US" sz="1550" dirty="0">
                <a:solidFill>
                  <a:srgbClr val="17212B"/>
                </a:solidFill>
              </a:rPr>
              <a:t>The project demonstrates frontend, backend, API communication, and a data layer.</a:t>
            </a:r>
            <a:endParaRPr lang="en-US" sz="1550" dirty="0"/>
          </a:p>
        </p:txBody>
      </p:sp>
      <p:sp>
        <p:nvSpPr>
          <p:cNvPr id="8" name="Shape 6"/>
          <p:cNvSpPr/>
          <p:nvPr/>
        </p:nvSpPr>
        <p:spPr>
          <a:xfrm>
            <a:off x="7315200" y="2011680"/>
            <a:ext cx="3657600" cy="1508760"/>
          </a:xfrm>
          <a:prstGeom prst="roundRect">
            <a:avLst>
              <a:gd name="adj" fmla="val 3636"/>
            </a:avLst>
          </a:prstGeom>
          <a:solidFill>
            <a:srgbClr val="FFFFFF"/>
          </a:solidFill>
          <a:ln w="12700">
            <a:solidFill>
              <a:srgbClr val="D7DEE8"/>
            </a:solidFill>
            <a:prstDash val="solid"/>
          </a:ln>
        </p:spPr>
      </p:sp>
      <p:sp>
        <p:nvSpPr>
          <p:cNvPr id="9" name="Shape 7"/>
          <p:cNvSpPr/>
          <p:nvPr/>
        </p:nvSpPr>
        <p:spPr>
          <a:xfrm>
            <a:off x="7315200" y="2011680"/>
            <a:ext cx="73152" cy="1508760"/>
          </a:xfrm>
          <a:prstGeom prst="rect">
            <a:avLst/>
          </a:prstGeom>
          <a:solidFill>
            <a:srgbClr val="1D4ED8"/>
          </a:solidFill>
          <a:ln w="12700">
            <a:solidFill>
              <a:srgbClr val="1D4ED8"/>
            </a:solidFill>
            <a:prstDash val="solid"/>
          </a:ln>
        </p:spPr>
      </p:sp>
      <p:sp>
        <p:nvSpPr>
          <p:cNvPr id="10" name="Text 8"/>
          <p:cNvSpPr/>
          <p:nvPr/>
        </p:nvSpPr>
        <p:spPr>
          <a:xfrm>
            <a:off x="7525512" y="2157984"/>
            <a:ext cx="3273552" cy="256032"/>
          </a:xfrm>
          <a:prstGeom prst="rect">
            <a:avLst/>
          </a:prstGeom>
          <a:noFill/>
          <a:ln/>
        </p:spPr>
        <p:txBody>
          <a:bodyPr wrap="square" lIns="0" tIns="0" rIns="0" bIns="0" rtlCol="0" anchor="ctr"/>
          <a:lstStyle/>
          <a:p>
            <a:pPr indent="0" marL="0">
              <a:buNone/>
            </a:pPr>
            <a:r>
              <a:rPr lang="en-US" sz="1250" b="1" dirty="0">
                <a:solidFill>
                  <a:srgbClr val="17212B"/>
                </a:solidFill>
              </a:rPr>
              <a:t>Presentation goal</a:t>
            </a:r>
            <a:endParaRPr lang="en-US" sz="1250" dirty="0"/>
          </a:p>
        </p:txBody>
      </p:sp>
      <p:sp>
        <p:nvSpPr>
          <p:cNvPr id="11" name="Text 9"/>
          <p:cNvSpPr/>
          <p:nvPr/>
        </p:nvSpPr>
        <p:spPr>
          <a:xfrm>
            <a:off x="7525512" y="2487168"/>
            <a:ext cx="3273552" cy="94183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Show the app, explain how each part works, and defend the full stack flow clearly.</a:t>
            </a:r>
            <a:endParaRPr lang="en-US" sz="1020" dirty="0"/>
          </a:p>
        </p:txBody>
      </p:sp>
      <p:sp>
        <p:nvSpPr>
          <p:cNvPr id="12" name="Shape 10"/>
          <p:cNvSpPr/>
          <p:nvPr/>
        </p:nvSpPr>
        <p:spPr>
          <a:xfrm>
            <a:off x="7315200" y="3886200"/>
            <a:ext cx="3657600" cy="1234440"/>
          </a:xfrm>
          <a:prstGeom prst="roundRect">
            <a:avLst>
              <a:gd name="adj" fmla="val 4444"/>
            </a:avLst>
          </a:prstGeom>
          <a:solidFill>
            <a:srgbClr val="FFFFFF"/>
          </a:solidFill>
          <a:ln w="12700">
            <a:solidFill>
              <a:srgbClr val="D7DEE8"/>
            </a:solidFill>
            <a:prstDash val="solid"/>
          </a:ln>
        </p:spPr>
      </p:sp>
      <p:sp>
        <p:nvSpPr>
          <p:cNvPr id="13" name="Shape 11"/>
          <p:cNvSpPr/>
          <p:nvPr/>
        </p:nvSpPr>
        <p:spPr>
          <a:xfrm>
            <a:off x="7315200" y="3886200"/>
            <a:ext cx="73152" cy="1234440"/>
          </a:xfrm>
          <a:prstGeom prst="rect">
            <a:avLst/>
          </a:prstGeom>
          <a:solidFill>
            <a:srgbClr val="0F766E"/>
          </a:solidFill>
          <a:ln w="12700">
            <a:solidFill>
              <a:srgbClr val="0F766E"/>
            </a:solidFill>
            <a:prstDash val="solid"/>
          </a:ln>
        </p:spPr>
      </p:sp>
      <p:sp>
        <p:nvSpPr>
          <p:cNvPr id="14" name="Text 12"/>
          <p:cNvSpPr/>
          <p:nvPr/>
        </p:nvSpPr>
        <p:spPr>
          <a:xfrm>
            <a:off x="7525512" y="4032504"/>
            <a:ext cx="3273552" cy="256032"/>
          </a:xfrm>
          <a:prstGeom prst="rect">
            <a:avLst/>
          </a:prstGeom>
          <a:noFill/>
          <a:ln/>
        </p:spPr>
        <p:txBody>
          <a:bodyPr wrap="square" lIns="0" tIns="0" rIns="0" bIns="0" rtlCol="0" anchor="ctr"/>
          <a:lstStyle/>
          <a:p>
            <a:pPr indent="0" marL="0">
              <a:buNone/>
            </a:pPr>
            <a:r>
              <a:rPr lang="en-US" sz="1250" b="1" dirty="0">
                <a:solidFill>
                  <a:srgbClr val="17212B"/>
                </a:solidFill>
              </a:rPr>
              <a:t>Core idea</a:t>
            </a:r>
            <a:endParaRPr lang="en-US" sz="1250" dirty="0"/>
          </a:p>
        </p:txBody>
      </p:sp>
      <p:sp>
        <p:nvSpPr>
          <p:cNvPr id="15" name="Text 13"/>
          <p:cNvSpPr/>
          <p:nvPr/>
        </p:nvSpPr>
        <p:spPr>
          <a:xfrm>
            <a:off x="7525512" y="4361688"/>
            <a:ext cx="3273552" cy="66751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Student dorm rental + roommate matching in one web application.</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Problem</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Why This Project Matters</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The user problem and the project goal</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3</a:t>
            </a:r>
            <a:endParaRPr lang="en-US" sz="800" dirty="0"/>
          </a:p>
        </p:txBody>
      </p:sp>
      <p:sp>
        <p:nvSpPr>
          <p:cNvPr id="7" name="Shape 5"/>
          <p:cNvSpPr/>
          <p:nvPr/>
        </p:nvSpPr>
        <p:spPr>
          <a:xfrm>
            <a:off x="777240" y="1828800"/>
            <a:ext cx="3383280" cy="1417320"/>
          </a:xfrm>
          <a:prstGeom prst="roundRect">
            <a:avLst>
              <a:gd name="adj" fmla="val 3871"/>
            </a:avLst>
          </a:prstGeom>
          <a:solidFill>
            <a:srgbClr val="FFFFFF"/>
          </a:solidFill>
          <a:ln w="12700">
            <a:solidFill>
              <a:srgbClr val="D7DEE8"/>
            </a:solidFill>
            <a:prstDash val="solid"/>
          </a:ln>
        </p:spPr>
      </p:sp>
      <p:sp>
        <p:nvSpPr>
          <p:cNvPr id="8" name="Shape 6"/>
          <p:cNvSpPr/>
          <p:nvPr/>
        </p:nvSpPr>
        <p:spPr>
          <a:xfrm>
            <a:off x="777240" y="1828800"/>
            <a:ext cx="73152" cy="1417320"/>
          </a:xfrm>
          <a:prstGeom prst="rect">
            <a:avLst/>
          </a:prstGeom>
          <a:solidFill>
            <a:srgbClr val="C2410C"/>
          </a:solidFill>
          <a:ln w="12700">
            <a:solidFill>
              <a:srgbClr val="C2410C"/>
            </a:solidFill>
            <a:prstDash val="solid"/>
          </a:ln>
        </p:spPr>
      </p:sp>
      <p:sp>
        <p:nvSpPr>
          <p:cNvPr id="9" name="Text 7"/>
          <p:cNvSpPr/>
          <p:nvPr/>
        </p:nvSpPr>
        <p:spPr>
          <a:xfrm>
            <a:off x="987552" y="1975104"/>
            <a:ext cx="2999232" cy="256032"/>
          </a:xfrm>
          <a:prstGeom prst="rect">
            <a:avLst/>
          </a:prstGeom>
          <a:noFill/>
          <a:ln/>
        </p:spPr>
        <p:txBody>
          <a:bodyPr wrap="square" lIns="0" tIns="0" rIns="0" bIns="0" rtlCol="0" anchor="ctr"/>
          <a:lstStyle/>
          <a:p>
            <a:pPr indent="0" marL="0">
              <a:buNone/>
            </a:pPr>
            <a:r>
              <a:rPr lang="en-US" sz="1250" b="1" dirty="0">
                <a:solidFill>
                  <a:srgbClr val="17212B"/>
                </a:solidFill>
              </a:rPr>
              <a:t>Problem</a:t>
            </a:r>
            <a:endParaRPr lang="en-US" sz="1250" dirty="0"/>
          </a:p>
        </p:txBody>
      </p:sp>
      <p:sp>
        <p:nvSpPr>
          <p:cNvPr id="10" name="Text 8"/>
          <p:cNvSpPr/>
          <p:nvPr/>
        </p:nvSpPr>
        <p:spPr>
          <a:xfrm>
            <a:off x="987552" y="2304288"/>
            <a:ext cx="299923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Students need dorms, rooms, and roommates, but information is usually scattered.</a:t>
            </a:r>
            <a:endParaRPr lang="en-US" sz="1020" dirty="0"/>
          </a:p>
        </p:txBody>
      </p:sp>
      <p:sp>
        <p:nvSpPr>
          <p:cNvPr id="11" name="Shape 9"/>
          <p:cNvSpPr/>
          <p:nvPr/>
        </p:nvSpPr>
        <p:spPr>
          <a:xfrm>
            <a:off x="4434840" y="1828800"/>
            <a:ext cx="3383280" cy="1417320"/>
          </a:xfrm>
          <a:prstGeom prst="roundRect">
            <a:avLst>
              <a:gd name="adj" fmla="val 3871"/>
            </a:avLst>
          </a:prstGeom>
          <a:solidFill>
            <a:srgbClr val="FFFFFF"/>
          </a:solidFill>
          <a:ln w="12700">
            <a:solidFill>
              <a:srgbClr val="D7DEE8"/>
            </a:solidFill>
            <a:prstDash val="solid"/>
          </a:ln>
        </p:spPr>
      </p:sp>
      <p:sp>
        <p:nvSpPr>
          <p:cNvPr id="12" name="Shape 10"/>
          <p:cNvSpPr/>
          <p:nvPr/>
        </p:nvSpPr>
        <p:spPr>
          <a:xfrm>
            <a:off x="4434840" y="1828800"/>
            <a:ext cx="73152" cy="1417320"/>
          </a:xfrm>
          <a:prstGeom prst="rect">
            <a:avLst/>
          </a:prstGeom>
          <a:solidFill>
            <a:srgbClr val="15803D"/>
          </a:solidFill>
          <a:ln w="12700">
            <a:solidFill>
              <a:srgbClr val="15803D"/>
            </a:solidFill>
            <a:prstDash val="solid"/>
          </a:ln>
        </p:spPr>
      </p:sp>
      <p:sp>
        <p:nvSpPr>
          <p:cNvPr id="13" name="Text 11"/>
          <p:cNvSpPr/>
          <p:nvPr/>
        </p:nvSpPr>
        <p:spPr>
          <a:xfrm>
            <a:off x="4645152" y="1975104"/>
            <a:ext cx="2999232" cy="256032"/>
          </a:xfrm>
          <a:prstGeom prst="rect">
            <a:avLst/>
          </a:prstGeom>
          <a:noFill/>
          <a:ln/>
        </p:spPr>
        <p:txBody>
          <a:bodyPr wrap="square" lIns="0" tIns="0" rIns="0" bIns="0" rtlCol="0" anchor="ctr"/>
          <a:lstStyle/>
          <a:p>
            <a:pPr indent="0" marL="0">
              <a:buNone/>
            </a:pPr>
            <a:r>
              <a:rPr lang="en-US" sz="1250" b="1" dirty="0">
                <a:solidFill>
                  <a:srgbClr val="17212B"/>
                </a:solidFill>
              </a:rPr>
              <a:t>Goal</a:t>
            </a:r>
            <a:endParaRPr lang="en-US" sz="1250" dirty="0"/>
          </a:p>
        </p:txBody>
      </p:sp>
      <p:sp>
        <p:nvSpPr>
          <p:cNvPr id="14" name="Text 12"/>
          <p:cNvSpPr/>
          <p:nvPr/>
        </p:nvSpPr>
        <p:spPr>
          <a:xfrm>
            <a:off x="4645152" y="2304288"/>
            <a:ext cx="299923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Provide one simple app where students can browse and post housing-related information.</a:t>
            </a:r>
            <a:endParaRPr lang="en-US" sz="1020" dirty="0"/>
          </a:p>
        </p:txBody>
      </p:sp>
      <p:sp>
        <p:nvSpPr>
          <p:cNvPr id="15" name="Shape 13"/>
          <p:cNvSpPr/>
          <p:nvPr/>
        </p:nvSpPr>
        <p:spPr>
          <a:xfrm>
            <a:off x="8092440" y="1828800"/>
            <a:ext cx="3383280" cy="1417320"/>
          </a:xfrm>
          <a:prstGeom prst="roundRect">
            <a:avLst>
              <a:gd name="adj" fmla="val 3871"/>
            </a:avLst>
          </a:prstGeom>
          <a:solidFill>
            <a:srgbClr val="FFFFFF"/>
          </a:solidFill>
          <a:ln w="12700">
            <a:solidFill>
              <a:srgbClr val="D7DEE8"/>
            </a:solidFill>
            <a:prstDash val="solid"/>
          </a:ln>
        </p:spPr>
      </p:sp>
      <p:sp>
        <p:nvSpPr>
          <p:cNvPr id="16" name="Shape 14"/>
          <p:cNvSpPr/>
          <p:nvPr/>
        </p:nvSpPr>
        <p:spPr>
          <a:xfrm>
            <a:off x="8092440" y="1828800"/>
            <a:ext cx="73152" cy="1417320"/>
          </a:xfrm>
          <a:prstGeom prst="rect">
            <a:avLst/>
          </a:prstGeom>
          <a:solidFill>
            <a:srgbClr val="1D4ED8"/>
          </a:solidFill>
          <a:ln w="12700">
            <a:solidFill>
              <a:srgbClr val="1D4ED8"/>
            </a:solidFill>
            <a:prstDash val="solid"/>
          </a:ln>
        </p:spPr>
      </p:sp>
      <p:sp>
        <p:nvSpPr>
          <p:cNvPr id="17" name="Text 15"/>
          <p:cNvSpPr/>
          <p:nvPr/>
        </p:nvSpPr>
        <p:spPr>
          <a:xfrm>
            <a:off x="8302752" y="1975104"/>
            <a:ext cx="2999232" cy="256032"/>
          </a:xfrm>
          <a:prstGeom prst="rect">
            <a:avLst/>
          </a:prstGeom>
          <a:noFill/>
          <a:ln/>
        </p:spPr>
        <p:txBody>
          <a:bodyPr wrap="square" lIns="0" tIns="0" rIns="0" bIns="0" rtlCol="0" anchor="ctr"/>
          <a:lstStyle/>
          <a:p>
            <a:pPr indent="0" marL="0">
              <a:buNone/>
            </a:pPr>
            <a:r>
              <a:rPr lang="en-US" sz="1250" b="1" dirty="0">
                <a:solidFill>
                  <a:srgbClr val="17212B"/>
                </a:solidFill>
              </a:rPr>
              <a:t>Result</a:t>
            </a:r>
            <a:endParaRPr lang="en-US" sz="1250" dirty="0"/>
          </a:p>
        </p:txBody>
      </p:sp>
      <p:sp>
        <p:nvSpPr>
          <p:cNvPr id="18" name="Text 16"/>
          <p:cNvSpPr/>
          <p:nvPr/>
        </p:nvSpPr>
        <p:spPr>
          <a:xfrm>
            <a:off x="8302752" y="2304288"/>
            <a:ext cx="299923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A working local demo where data moves from the UI to the backend and back to the UI.</a:t>
            </a:r>
            <a:endParaRPr lang="en-US" sz="1020" dirty="0"/>
          </a:p>
        </p:txBody>
      </p:sp>
      <p:sp>
        <p:nvSpPr>
          <p:cNvPr id="19" name="Text 17"/>
          <p:cNvSpPr/>
          <p:nvPr/>
        </p:nvSpPr>
        <p:spPr>
          <a:xfrm>
            <a:off x="1005840" y="3977640"/>
            <a:ext cx="9966960" cy="1234440"/>
          </a:xfrm>
          <a:prstGeom prst="rect">
            <a:avLst/>
          </a:prstGeom>
          <a:noFill/>
          <a:ln/>
        </p:spPr>
        <p:txBody>
          <a:bodyPr wrap="square" lIns="635" tIns="635" rIns="635" bIns="635" rtlCol="0" anchor="t">
            <a:normAutofit/>
          </a:bodyPr>
          <a:lstStyle/>
          <a:p>
            <a:pPr marL="190500" indent="-190500">
              <a:buSzPct val="100000"/>
              <a:buChar char="•"/>
            </a:pPr>
            <a:r>
              <a:rPr lang="en-US" sz="1500" dirty="0">
                <a:solidFill>
                  <a:srgbClr val="17212B"/>
                </a:solidFill>
              </a:rPr>
              <a:t>Dorm listings are sorted by price.</a:t>
            </a:r>
            <a:endParaRPr lang="en-US" sz="1500" dirty="0"/>
          </a:p>
          <a:p>
            <a:pPr marL="190500" indent="-190500">
              <a:buSzPct val="100000"/>
              <a:buChar char="•"/>
            </a:pPr>
            <a:r>
              <a:rPr lang="en-US" sz="1500" dirty="0">
                <a:solidFill>
                  <a:srgbClr val="17212B"/>
                </a:solidFill>
              </a:rPr>
              <a:t>Roommate profiles are sorted by move-in date.</a:t>
            </a:r>
            <a:endParaRPr lang="en-US" sz="1500" dirty="0"/>
          </a:p>
          <a:p>
            <a:pPr marL="190500" indent="-190500">
              <a:buSzPct val="100000"/>
              <a:buChar char="•"/>
            </a:pPr>
            <a:r>
              <a:rPr lang="en-US" sz="1500" dirty="0">
                <a:solidFill>
                  <a:srgbClr val="17212B"/>
                </a:solidFill>
              </a:rPr>
              <a:t>Forms make the app interactive instead of static.</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Architecture</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Full Stack Architecture</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Frontend, backend, data, and API communication</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4</a:t>
            </a:r>
            <a:endParaRPr lang="en-US" sz="800" dirty="0"/>
          </a:p>
        </p:txBody>
      </p:sp>
      <p:sp>
        <p:nvSpPr>
          <p:cNvPr id="7" name="Shape 5"/>
          <p:cNvSpPr/>
          <p:nvPr/>
        </p:nvSpPr>
        <p:spPr>
          <a:xfrm>
            <a:off x="731520" y="1828800"/>
            <a:ext cx="3401568" cy="1874520"/>
          </a:xfrm>
          <a:prstGeom prst="roundRect">
            <a:avLst>
              <a:gd name="adj" fmla="val 2927"/>
            </a:avLst>
          </a:prstGeom>
          <a:solidFill>
            <a:srgbClr val="FFFFFF"/>
          </a:solidFill>
          <a:ln w="12700">
            <a:solidFill>
              <a:srgbClr val="D7DEE8"/>
            </a:solidFill>
            <a:prstDash val="solid"/>
          </a:ln>
        </p:spPr>
      </p:sp>
      <p:sp>
        <p:nvSpPr>
          <p:cNvPr id="8" name="Shape 6"/>
          <p:cNvSpPr/>
          <p:nvPr/>
        </p:nvSpPr>
        <p:spPr>
          <a:xfrm>
            <a:off x="731520" y="1828800"/>
            <a:ext cx="73152" cy="1874520"/>
          </a:xfrm>
          <a:prstGeom prst="rect">
            <a:avLst/>
          </a:prstGeom>
          <a:solidFill>
            <a:srgbClr val="1D4ED8"/>
          </a:solidFill>
          <a:ln w="12700">
            <a:solidFill>
              <a:srgbClr val="1D4ED8"/>
            </a:solidFill>
            <a:prstDash val="solid"/>
          </a:ln>
        </p:spPr>
      </p:sp>
      <p:sp>
        <p:nvSpPr>
          <p:cNvPr id="9" name="Text 7"/>
          <p:cNvSpPr/>
          <p:nvPr/>
        </p:nvSpPr>
        <p:spPr>
          <a:xfrm>
            <a:off x="941832" y="1975104"/>
            <a:ext cx="3017520" cy="256032"/>
          </a:xfrm>
          <a:prstGeom prst="rect">
            <a:avLst/>
          </a:prstGeom>
          <a:noFill/>
          <a:ln/>
        </p:spPr>
        <p:txBody>
          <a:bodyPr wrap="square" lIns="0" tIns="0" rIns="0" bIns="0" rtlCol="0" anchor="ctr"/>
          <a:lstStyle/>
          <a:p>
            <a:pPr indent="0" marL="0">
              <a:buNone/>
            </a:pPr>
            <a:r>
              <a:rPr lang="en-US" sz="1250" b="1" dirty="0">
                <a:solidFill>
                  <a:srgbClr val="17212B"/>
                </a:solidFill>
              </a:rPr>
              <a:t>Frontend</a:t>
            </a:r>
            <a:endParaRPr lang="en-US" sz="1250" dirty="0"/>
          </a:p>
        </p:txBody>
      </p:sp>
      <p:sp>
        <p:nvSpPr>
          <p:cNvPr id="10" name="Text 8"/>
          <p:cNvSpPr/>
          <p:nvPr/>
        </p:nvSpPr>
        <p:spPr>
          <a:xfrm>
            <a:off x="941832" y="2304288"/>
            <a:ext cx="3017520" cy="13075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HTML creates structure. CSS controls styling. JavaScript calls APIs and updates the page.</a:t>
            </a:r>
            <a:endParaRPr lang="en-US" sz="1020" dirty="0"/>
          </a:p>
        </p:txBody>
      </p:sp>
      <p:sp>
        <p:nvSpPr>
          <p:cNvPr id="11" name="Shape 9"/>
          <p:cNvSpPr/>
          <p:nvPr/>
        </p:nvSpPr>
        <p:spPr>
          <a:xfrm>
            <a:off x="4407408" y="1828800"/>
            <a:ext cx="3401568" cy="1874520"/>
          </a:xfrm>
          <a:prstGeom prst="roundRect">
            <a:avLst>
              <a:gd name="adj" fmla="val 2927"/>
            </a:avLst>
          </a:prstGeom>
          <a:solidFill>
            <a:srgbClr val="FFFFFF"/>
          </a:solidFill>
          <a:ln w="12700">
            <a:solidFill>
              <a:srgbClr val="D7DEE8"/>
            </a:solidFill>
            <a:prstDash val="solid"/>
          </a:ln>
        </p:spPr>
      </p:sp>
      <p:sp>
        <p:nvSpPr>
          <p:cNvPr id="12" name="Shape 10"/>
          <p:cNvSpPr/>
          <p:nvPr/>
        </p:nvSpPr>
        <p:spPr>
          <a:xfrm>
            <a:off x="4407408" y="1828800"/>
            <a:ext cx="73152" cy="1874520"/>
          </a:xfrm>
          <a:prstGeom prst="rect">
            <a:avLst/>
          </a:prstGeom>
          <a:solidFill>
            <a:srgbClr val="0F766E"/>
          </a:solidFill>
          <a:ln w="12700">
            <a:solidFill>
              <a:srgbClr val="0F766E"/>
            </a:solidFill>
            <a:prstDash val="solid"/>
          </a:ln>
        </p:spPr>
      </p:sp>
      <p:sp>
        <p:nvSpPr>
          <p:cNvPr id="13" name="Text 11"/>
          <p:cNvSpPr/>
          <p:nvPr/>
        </p:nvSpPr>
        <p:spPr>
          <a:xfrm>
            <a:off x="4617720" y="1975104"/>
            <a:ext cx="3017520" cy="256032"/>
          </a:xfrm>
          <a:prstGeom prst="rect">
            <a:avLst/>
          </a:prstGeom>
          <a:noFill/>
          <a:ln/>
        </p:spPr>
        <p:txBody>
          <a:bodyPr wrap="square" lIns="0" tIns="0" rIns="0" bIns="0" rtlCol="0" anchor="ctr"/>
          <a:lstStyle/>
          <a:p>
            <a:pPr indent="0" marL="0">
              <a:buNone/>
            </a:pPr>
            <a:r>
              <a:rPr lang="en-US" sz="1250" b="1" dirty="0">
                <a:solidFill>
                  <a:srgbClr val="17212B"/>
                </a:solidFill>
              </a:rPr>
              <a:t>Backend</a:t>
            </a:r>
            <a:endParaRPr lang="en-US" sz="1250" dirty="0"/>
          </a:p>
        </p:txBody>
      </p:sp>
      <p:sp>
        <p:nvSpPr>
          <p:cNvPr id="14" name="Text 12"/>
          <p:cNvSpPr/>
          <p:nvPr/>
        </p:nvSpPr>
        <p:spPr>
          <a:xfrm>
            <a:off x="4617720" y="2304288"/>
            <a:ext cx="3017520" cy="13075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Java HttpServer serves files, handles routes, validates forms, and returns JSON.</a:t>
            </a:r>
            <a:endParaRPr lang="en-US" sz="1020" dirty="0"/>
          </a:p>
        </p:txBody>
      </p:sp>
      <p:sp>
        <p:nvSpPr>
          <p:cNvPr id="15" name="Shape 13"/>
          <p:cNvSpPr/>
          <p:nvPr/>
        </p:nvSpPr>
        <p:spPr>
          <a:xfrm>
            <a:off x="8083296" y="1828800"/>
            <a:ext cx="3401568" cy="1874520"/>
          </a:xfrm>
          <a:prstGeom prst="roundRect">
            <a:avLst>
              <a:gd name="adj" fmla="val 2927"/>
            </a:avLst>
          </a:prstGeom>
          <a:solidFill>
            <a:srgbClr val="FFFFFF"/>
          </a:solidFill>
          <a:ln w="12700">
            <a:solidFill>
              <a:srgbClr val="D7DEE8"/>
            </a:solidFill>
            <a:prstDash val="solid"/>
          </a:ln>
        </p:spPr>
      </p:sp>
      <p:sp>
        <p:nvSpPr>
          <p:cNvPr id="16" name="Shape 14"/>
          <p:cNvSpPr/>
          <p:nvPr/>
        </p:nvSpPr>
        <p:spPr>
          <a:xfrm>
            <a:off x="8083296" y="1828800"/>
            <a:ext cx="73152" cy="1874520"/>
          </a:xfrm>
          <a:prstGeom prst="rect">
            <a:avLst/>
          </a:prstGeom>
          <a:solidFill>
            <a:srgbClr val="C2410C"/>
          </a:solidFill>
          <a:ln w="12700">
            <a:solidFill>
              <a:srgbClr val="C2410C"/>
            </a:solidFill>
            <a:prstDash val="solid"/>
          </a:ln>
        </p:spPr>
      </p:sp>
      <p:sp>
        <p:nvSpPr>
          <p:cNvPr id="17" name="Text 15"/>
          <p:cNvSpPr/>
          <p:nvPr/>
        </p:nvSpPr>
        <p:spPr>
          <a:xfrm>
            <a:off x="8293608" y="1975104"/>
            <a:ext cx="3017520" cy="256032"/>
          </a:xfrm>
          <a:prstGeom prst="rect">
            <a:avLst/>
          </a:prstGeom>
          <a:noFill/>
          <a:ln/>
        </p:spPr>
        <p:txBody>
          <a:bodyPr wrap="square" lIns="0" tIns="0" rIns="0" bIns="0" rtlCol="0" anchor="ctr"/>
          <a:lstStyle/>
          <a:p>
            <a:pPr indent="0" marL="0">
              <a:buNone/>
            </a:pPr>
            <a:r>
              <a:rPr lang="en-US" sz="1250" b="1" dirty="0">
                <a:solidFill>
                  <a:srgbClr val="17212B"/>
                </a:solidFill>
              </a:rPr>
              <a:t>Data + API</a:t>
            </a:r>
            <a:endParaRPr lang="en-US" sz="1250" dirty="0"/>
          </a:p>
        </p:txBody>
      </p:sp>
      <p:sp>
        <p:nvSpPr>
          <p:cNvPr id="18" name="Text 16"/>
          <p:cNvSpPr/>
          <p:nvPr/>
        </p:nvSpPr>
        <p:spPr>
          <a:xfrm>
            <a:off x="8293608" y="2304288"/>
            <a:ext cx="3017520" cy="13075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In-memory Java lists store demo data. JSON is used to send responses to JavaScript.</a:t>
            </a:r>
            <a:endParaRPr lang="en-US" sz="1020" dirty="0"/>
          </a:p>
        </p:txBody>
      </p:sp>
      <p:sp>
        <p:nvSpPr>
          <p:cNvPr id="19" name="Shape 17"/>
          <p:cNvSpPr/>
          <p:nvPr/>
        </p:nvSpPr>
        <p:spPr>
          <a:xfrm>
            <a:off x="1188720" y="4617720"/>
            <a:ext cx="9738360" cy="777240"/>
          </a:xfrm>
          <a:prstGeom prst="roundRect">
            <a:avLst>
              <a:gd name="adj" fmla="val 7059"/>
            </a:avLst>
          </a:prstGeom>
          <a:solidFill>
            <a:srgbClr val="0F172A"/>
          </a:solidFill>
          <a:ln w="12700">
            <a:solidFill>
              <a:srgbClr val="263246"/>
            </a:solidFill>
            <a:prstDash val="solid"/>
          </a:ln>
        </p:spPr>
      </p:sp>
      <p:sp>
        <p:nvSpPr>
          <p:cNvPr id="20" name="Text 18"/>
          <p:cNvSpPr/>
          <p:nvPr/>
        </p:nvSpPr>
        <p:spPr>
          <a:xfrm>
            <a:off x="1353312" y="4764024"/>
            <a:ext cx="9409176" cy="484632"/>
          </a:xfrm>
          <a:prstGeom prst="rect">
            <a:avLst/>
          </a:prstGeom>
          <a:noFill/>
          <a:ln/>
        </p:spPr>
        <p:txBody>
          <a:bodyPr wrap="square" lIns="0" tIns="0" rIns="0" bIns="0" rtlCol="0" anchor="ctr">
            <a:normAutofit/>
          </a:bodyPr>
          <a:lstStyle/>
          <a:p>
            <a:pPr indent="0" marL="0">
              <a:buNone/>
            </a:pPr>
            <a:r>
              <a:rPr lang="en-US" sz="950" dirty="0">
                <a:solidFill>
                  <a:srgbClr val="E5E7EB"/>
                </a:solidFill>
                <a:latin typeface="Consolas" pitchFamily="34" charset="0"/>
                <a:ea typeface="Consolas" pitchFamily="34" charset="-122"/>
                <a:cs typeface="Consolas" pitchFamily="34" charset="-120"/>
              </a:rPr>
              <a:t>Browser -&gt; fetch() -&gt; Java API route -&gt; data layer -&gt; JSON response -&gt; updated cards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Frontend</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Frontend Explanation</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What the browser-side code does</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5</a:t>
            </a:r>
            <a:endParaRPr lang="en-US" sz="800" dirty="0"/>
          </a:p>
        </p:txBody>
      </p:sp>
      <p:sp>
        <p:nvSpPr>
          <p:cNvPr id="7" name="Shape 5"/>
          <p:cNvSpPr/>
          <p:nvPr/>
        </p:nvSpPr>
        <p:spPr>
          <a:xfrm>
            <a:off x="777240" y="1828800"/>
            <a:ext cx="3337560" cy="1417320"/>
          </a:xfrm>
          <a:prstGeom prst="roundRect">
            <a:avLst>
              <a:gd name="adj" fmla="val 3871"/>
            </a:avLst>
          </a:prstGeom>
          <a:solidFill>
            <a:srgbClr val="FFFFFF"/>
          </a:solidFill>
          <a:ln w="12700">
            <a:solidFill>
              <a:srgbClr val="D7DEE8"/>
            </a:solidFill>
            <a:prstDash val="solid"/>
          </a:ln>
        </p:spPr>
      </p:sp>
      <p:sp>
        <p:nvSpPr>
          <p:cNvPr id="8" name="Shape 6"/>
          <p:cNvSpPr/>
          <p:nvPr/>
        </p:nvSpPr>
        <p:spPr>
          <a:xfrm>
            <a:off x="777240" y="1828800"/>
            <a:ext cx="73152" cy="1417320"/>
          </a:xfrm>
          <a:prstGeom prst="rect">
            <a:avLst/>
          </a:prstGeom>
          <a:solidFill>
            <a:srgbClr val="1D4ED8"/>
          </a:solidFill>
          <a:ln w="12700">
            <a:solidFill>
              <a:srgbClr val="1D4ED8"/>
            </a:solidFill>
            <a:prstDash val="solid"/>
          </a:ln>
        </p:spPr>
      </p:sp>
      <p:sp>
        <p:nvSpPr>
          <p:cNvPr id="9" name="Text 7"/>
          <p:cNvSpPr/>
          <p:nvPr/>
        </p:nvSpPr>
        <p:spPr>
          <a:xfrm>
            <a:off x="987552" y="1975104"/>
            <a:ext cx="2953512" cy="256032"/>
          </a:xfrm>
          <a:prstGeom prst="rect">
            <a:avLst/>
          </a:prstGeom>
          <a:noFill/>
          <a:ln/>
        </p:spPr>
        <p:txBody>
          <a:bodyPr wrap="square" lIns="0" tIns="0" rIns="0" bIns="0" rtlCol="0" anchor="ctr"/>
          <a:lstStyle/>
          <a:p>
            <a:pPr indent="0" marL="0">
              <a:buNone/>
            </a:pPr>
            <a:r>
              <a:rPr lang="en-US" sz="1250" b="1" dirty="0">
                <a:solidFill>
                  <a:srgbClr val="17212B"/>
                </a:solidFill>
              </a:rPr>
              <a:t>HTML</a:t>
            </a:r>
            <a:endParaRPr lang="en-US" sz="1250" dirty="0"/>
          </a:p>
        </p:txBody>
      </p:sp>
      <p:sp>
        <p:nvSpPr>
          <p:cNvPr id="10" name="Text 8"/>
          <p:cNvSpPr/>
          <p:nvPr/>
        </p:nvSpPr>
        <p:spPr>
          <a:xfrm>
            <a:off x="987552" y="2304288"/>
            <a:ext cx="295351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Creates the page sections, forms, buttons, counters, and empty card containers.</a:t>
            </a:r>
            <a:endParaRPr lang="en-US" sz="1020" dirty="0"/>
          </a:p>
        </p:txBody>
      </p:sp>
      <p:sp>
        <p:nvSpPr>
          <p:cNvPr id="11" name="Shape 9"/>
          <p:cNvSpPr/>
          <p:nvPr/>
        </p:nvSpPr>
        <p:spPr>
          <a:xfrm>
            <a:off x="4434840" y="1828800"/>
            <a:ext cx="3337560" cy="1417320"/>
          </a:xfrm>
          <a:prstGeom prst="roundRect">
            <a:avLst>
              <a:gd name="adj" fmla="val 3871"/>
            </a:avLst>
          </a:prstGeom>
          <a:solidFill>
            <a:srgbClr val="FFFFFF"/>
          </a:solidFill>
          <a:ln w="12700">
            <a:solidFill>
              <a:srgbClr val="D7DEE8"/>
            </a:solidFill>
            <a:prstDash val="solid"/>
          </a:ln>
        </p:spPr>
      </p:sp>
      <p:sp>
        <p:nvSpPr>
          <p:cNvPr id="12" name="Shape 10"/>
          <p:cNvSpPr/>
          <p:nvPr/>
        </p:nvSpPr>
        <p:spPr>
          <a:xfrm>
            <a:off x="4434840" y="1828800"/>
            <a:ext cx="73152" cy="1417320"/>
          </a:xfrm>
          <a:prstGeom prst="rect">
            <a:avLst/>
          </a:prstGeom>
          <a:solidFill>
            <a:srgbClr val="C2410C"/>
          </a:solidFill>
          <a:ln w="12700">
            <a:solidFill>
              <a:srgbClr val="C2410C"/>
            </a:solidFill>
            <a:prstDash val="solid"/>
          </a:ln>
        </p:spPr>
      </p:sp>
      <p:sp>
        <p:nvSpPr>
          <p:cNvPr id="13" name="Text 11"/>
          <p:cNvSpPr/>
          <p:nvPr/>
        </p:nvSpPr>
        <p:spPr>
          <a:xfrm>
            <a:off x="4645152" y="1975104"/>
            <a:ext cx="2953512" cy="256032"/>
          </a:xfrm>
          <a:prstGeom prst="rect">
            <a:avLst/>
          </a:prstGeom>
          <a:noFill/>
          <a:ln/>
        </p:spPr>
        <p:txBody>
          <a:bodyPr wrap="square" lIns="0" tIns="0" rIns="0" bIns="0" rtlCol="0" anchor="ctr"/>
          <a:lstStyle/>
          <a:p>
            <a:pPr indent="0" marL="0">
              <a:buNone/>
            </a:pPr>
            <a:r>
              <a:rPr lang="en-US" sz="1250" b="1" dirty="0">
                <a:solidFill>
                  <a:srgbClr val="17212B"/>
                </a:solidFill>
              </a:rPr>
              <a:t>CSS</a:t>
            </a:r>
            <a:endParaRPr lang="en-US" sz="1250" dirty="0"/>
          </a:p>
        </p:txBody>
      </p:sp>
      <p:sp>
        <p:nvSpPr>
          <p:cNvPr id="14" name="Text 12"/>
          <p:cNvSpPr/>
          <p:nvPr/>
        </p:nvSpPr>
        <p:spPr>
          <a:xfrm>
            <a:off x="4645152" y="2304288"/>
            <a:ext cx="295351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Controls visual design, grids, spacing, colors, buttons, cards, and responsive layout.</a:t>
            </a:r>
            <a:endParaRPr lang="en-US" sz="1020" dirty="0"/>
          </a:p>
        </p:txBody>
      </p:sp>
      <p:sp>
        <p:nvSpPr>
          <p:cNvPr id="15" name="Shape 13"/>
          <p:cNvSpPr/>
          <p:nvPr/>
        </p:nvSpPr>
        <p:spPr>
          <a:xfrm>
            <a:off x="8092440" y="1828800"/>
            <a:ext cx="3337560" cy="1417320"/>
          </a:xfrm>
          <a:prstGeom prst="roundRect">
            <a:avLst>
              <a:gd name="adj" fmla="val 3871"/>
            </a:avLst>
          </a:prstGeom>
          <a:solidFill>
            <a:srgbClr val="FFFFFF"/>
          </a:solidFill>
          <a:ln w="12700">
            <a:solidFill>
              <a:srgbClr val="D7DEE8"/>
            </a:solidFill>
            <a:prstDash val="solid"/>
          </a:ln>
        </p:spPr>
      </p:sp>
      <p:sp>
        <p:nvSpPr>
          <p:cNvPr id="16" name="Shape 14"/>
          <p:cNvSpPr/>
          <p:nvPr/>
        </p:nvSpPr>
        <p:spPr>
          <a:xfrm>
            <a:off x="8092440" y="1828800"/>
            <a:ext cx="73152" cy="1417320"/>
          </a:xfrm>
          <a:prstGeom prst="rect">
            <a:avLst/>
          </a:prstGeom>
          <a:solidFill>
            <a:srgbClr val="0F766E"/>
          </a:solidFill>
          <a:ln w="12700">
            <a:solidFill>
              <a:srgbClr val="0F766E"/>
            </a:solidFill>
            <a:prstDash val="solid"/>
          </a:ln>
        </p:spPr>
      </p:sp>
      <p:sp>
        <p:nvSpPr>
          <p:cNvPr id="17" name="Text 15"/>
          <p:cNvSpPr/>
          <p:nvPr/>
        </p:nvSpPr>
        <p:spPr>
          <a:xfrm>
            <a:off x="8302752" y="1975104"/>
            <a:ext cx="2953512" cy="256032"/>
          </a:xfrm>
          <a:prstGeom prst="rect">
            <a:avLst/>
          </a:prstGeom>
          <a:noFill/>
          <a:ln/>
        </p:spPr>
        <p:txBody>
          <a:bodyPr wrap="square" lIns="0" tIns="0" rIns="0" bIns="0" rtlCol="0" anchor="ctr"/>
          <a:lstStyle/>
          <a:p>
            <a:pPr indent="0" marL="0">
              <a:buNone/>
            </a:pPr>
            <a:r>
              <a:rPr lang="en-US" sz="1250" b="1" dirty="0">
                <a:solidFill>
                  <a:srgbClr val="17212B"/>
                </a:solidFill>
              </a:rPr>
              <a:t>JavaScript</a:t>
            </a:r>
            <a:endParaRPr lang="en-US" sz="1250" dirty="0"/>
          </a:p>
        </p:txBody>
      </p:sp>
      <p:sp>
        <p:nvSpPr>
          <p:cNvPr id="18" name="Text 16"/>
          <p:cNvSpPr/>
          <p:nvPr/>
        </p:nvSpPr>
        <p:spPr>
          <a:xfrm>
            <a:off x="8302752" y="2304288"/>
            <a:ext cx="295351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Fetches API data, renders cards, submits forms, and reloads content after success.</a:t>
            </a:r>
            <a:endParaRPr lang="en-US" sz="1020" dirty="0"/>
          </a:p>
        </p:txBody>
      </p:sp>
      <p:sp>
        <p:nvSpPr>
          <p:cNvPr id="19" name="Text 17"/>
          <p:cNvSpPr/>
          <p:nvPr/>
        </p:nvSpPr>
        <p:spPr>
          <a:xfrm>
            <a:off x="914400" y="4023360"/>
            <a:ext cx="10058400" cy="1371600"/>
          </a:xfrm>
          <a:prstGeom prst="rect">
            <a:avLst/>
          </a:prstGeom>
          <a:noFill/>
          <a:ln/>
        </p:spPr>
        <p:txBody>
          <a:bodyPr wrap="square" lIns="635" tIns="635" rIns="635" bIns="635" rtlCol="0" anchor="t">
            <a:normAutofit/>
          </a:bodyPr>
          <a:lstStyle/>
          <a:p>
            <a:pPr marL="190500" indent="-190500">
              <a:buSzPct val="100000"/>
              <a:buChar char="•"/>
            </a:pPr>
            <a:r>
              <a:rPr lang="en-US" sz="1450" dirty="0">
                <a:solidFill>
                  <a:srgbClr val="17212B"/>
                </a:solidFill>
              </a:rPr>
              <a:t>Important HTML IDs: listingGrid, roommateGrid, listingForm, roommateForm.</a:t>
            </a:r>
            <a:endParaRPr lang="en-US" sz="1450" dirty="0"/>
          </a:p>
          <a:p>
            <a:pPr marL="190500" indent="-190500">
              <a:buSzPct val="100000"/>
              <a:buChar char="•"/>
            </a:pPr>
            <a:r>
              <a:rPr lang="en-US" sz="1450" dirty="0">
                <a:solidFill>
                  <a:srgbClr val="17212B"/>
                </a:solidFill>
              </a:rPr>
              <a:t>CSS media query changes multi-column layouts into one column on small screens.</a:t>
            </a:r>
            <a:endParaRPr lang="en-US" sz="1450" dirty="0"/>
          </a:p>
          <a:p>
            <a:pPr marL="190500" indent="-190500">
              <a:buSzPct val="100000"/>
              <a:buChar char="•"/>
            </a:pPr>
            <a:r>
              <a:rPr lang="en-US" sz="1450" dirty="0">
                <a:solidFill>
                  <a:srgbClr val="17212B"/>
                </a:solidFill>
              </a:rPr>
              <a:t>JavaScript uses fetch(), response.json(), FormData, and URLSearchParams.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Backend</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Backend Explanation</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What Java does in the project</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6</a:t>
            </a:r>
            <a:endParaRPr lang="en-US" sz="800" dirty="0"/>
          </a:p>
        </p:txBody>
      </p:sp>
      <p:sp>
        <p:nvSpPr>
          <p:cNvPr id="7" name="Text 5"/>
          <p:cNvSpPr/>
          <p:nvPr/>
        </p:nvSpPr>
        <p:spPr>
          <a:xfrm>
            <a:off x="868680" y="1737360"/>
            <a:ext cx="6355080" cy="4069080"/>
          </a:xfrm>
          <a:prstGeom prst="rect">
            <a:avLst/>
          </a:prstGeom>
          <a:noFill/>
          <a:ln/>
        </p:spPr>
        <p:txBody>
          <a:bodyPr wrap="square" lIns="635" tIns="635" rIns="635" bIns="635" rtlCol="0" anchor="t">
            <a:normAutofit/>
          </a:bodyPr>
          <a:lstStyle/>
          <a:p>
            <a:pPr marL="190500" indent="-190500">
              <a:buSzPct val="100000"/>
              <a:buChar char="•"/>
            </a:pPr>
            <a:r>
              <a:rPr lang="en-US" sz="1400" dirty="0">
                <a:solidFill>
                  <a:srgbClr val="17212B"/>
                </a:solidFill>
              </a:rPr>
              <a:t>Starts a local HTTP server on port 8080.</a:t>
            </a:r>
            <a:endParaRPr lang="en-US" sz="1400" dirty="0"/>
          </a:p>
          <a:p>
            <a:pPr marL="190500" indent="-190500">
              <a:buSzPct val="100000"/>
              <a:buChar char="•"/>
            </a:pPr>
            <a:r>
              <a:rPr lang="en-US" sz="1400" dirty="0">
                <a:solidFill>
                  <a:srgbClr val="17212B"/>
                </a:solidFill>
              </a:rPr>
              <a:t>Serves static frontend files from the public folder.</a:t>
            </a:r>
            <a:endParaRPr lang="en-US" sz="1400" dirty="0"/>
          </a:p>
          <a:p>
            <a:pPr marL="190500" indent="-190500">
              <a:buSzPct val="100000"/>
              <a:buChar char="•"/>
            </a:pPr>
            <a:r>
              <a:rPr lang="en-US" sz="1400" dirty="0">
                <a:solidFill>
                  <a:srgbClr val="17212B"/>
                </a:solidFill>
              </a:rPr>
              <a:t>Registers routes for /api/listings and /api/roommates.</a:t>
            </a:r>
            <a:endParaRPr lang="en-US" sz="1400" dirty="0"/>
          </a:p>
          <a:p>
            <a:pPr marL="190500" indent="-190500">
              <a:buSzPct val="100000"/>
              <a:buChar char="•"/>
            </a:pPr>
            <a:r>
              <a:rPr lang="en-US" sz="1400" dirty="0">
                <a:solidFill>
                  <a:srgbClr val="17212B"/>
                </a:solidFill>
              </a:rPr>
              <a:t>Handles GET requests to read data.</a:t>
            </a:r>
            <a:endParaRPr lang="en-US" sz="1400" dirty="0"/>
          </a:p>
          <a:p>
            <a:pPr marL="190500" indent="-190500">
              <a:buSzPct val="100000"/>
              <a:buChar char="•"/>
            </a:pPr>
            <a:r>
              <a:rPr lang="en-US" sz="1400" dirty="0">
                <a:solidFill>
                  <a:srgbClr val="17212B"/>
                </a:solidFill>
              </a:rPr>
              <a:t>Handles POST requests to create new data.</a:t>
            </a:r>
            <a:endParaRPr lang="en-US" sz="1400" dirty="0"/>
          </a:p>
          <a:p>
            <a:pPr marL="190500" indent="-190500">
              <a:buSzPct val="100000"/>
              <a:buChar char="•"/>
            </a:pPr>
            <a:r>
              <a:rPr lang="en-US" sz="1400" dirty="0">
                <a:solidFill>
                  <a:srgbClr val="17212B"/>
                </a:solidFill>
              </a:rPr>
              <a:t>Validates required fields before saving.</a:t>
            </a:r>
            <a:endParaRPr lang="en-US" sz="1400" dirty="0"/>
          </a:p>
          <a:p>
            <a:pPr marL="190500" indent="-190500">
              <a:buSzPct val="100000"/>
              <a:buChar char="•"/>
            </a:pPr>
            <a:r>
              <a:rPr lang="en-US" sz="1400" dirty="0">
                <a:solidFill>
                  <a:srgbClr val="17212B"/>
                </a:solidFill>
              </a:rPr>
              <a:t>Converts Java records into JSON strings.</a:t>
            </a:r>
            <a:endParaRPr lang="en-US" sz="1400" dirty="0"/>
          </a:p>
        </p:txBody>
      </p:sp>
      <p:sp>
        <p:nvSpPr>
          <p:cNvPr id="8" name="Shape 6"/>
          <p:cNvSpPr/>
          <p:nvPr/>
        </p:nvSpPr>
        <p:spPr>
          <a:xfrm>
            <a:off x="7452360" y="1965960"/>
            <a:ext cx="4069080" cy="1874520"/>
          </a:xfrm>
          <a:prstGeom prst="roundRect">
            <a:avLst>
              <a:gd name="adj" fmla="val 2927"/>
            </a:avLst>
          </a:prstGeom>
          <a:solidFill>
            <a:srgbClr val="0F172A"/>
          </a:solidFill>
          <a:ln w="12700">
            <a:solidFill>
              <a:srgbClr val="263246"/>
            </a:solidFill>
            <a:prstDash val="solid"/>
          </a:ln>
        </p:spPr>
      </p:sp>
      <p:sp>
        <p:nvSpPr>
          <p:cNvPr id="9" name="Text 7"/>
          <p:cNvSpPr/>
          <p:nvPr/>
        </p:nvSpPr>
        <p:spPr>
          <a:xfrm>
            <a:off x="7616952" y="2112264"/>
            <a:ext cx="3739896" cy="1581912"/>
          </a:xfrm>
          <a:prstGeom prst="rect">
            <a:avLst/>
          </a:prstGeom>
          <a:noFill/>
          <a:ln/>
        </p:spPr>
        <p:txBody>
          <a:bodyPr wrap="square" lIns="0" tIns="0" rIns="0" bIns="0" rtlCol="0" anchor="ctr">
            <a:normAutofit/>
          </a:bodyPr>
          <a:lstStyle/>
          <a:p>
            <a:pPr indent="0" marL="0">
              <a:buNone/>
            </a:pPr>
            <a:r>
              <a:rPr lang="en-US" sz="950" dirty="0">
                <a:solidFill>
                  <a:srgbClr val="E5E7EB"/>
                </a:solidFill>
                <a:latin typeface="Consolas" pitchFamily="34" charset="0"/>
                <a:ea typeface="Consolas" pitchFamily="34" charset="-122"/>
                <a:cs typeface="Consolas" pitchFamily="34" charset="-120"/>
              </a:rPr>
              <a:t>HttpServer server = HttpServer.create(new InetSocketAddress(PORT), 0);</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server.createContext("/api/listings", this::handleListings);</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server.createContext("/api/roommates", this::handleRoommates);</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server.createContext("/", new StaticHandler());</a:t>
            </a:r>
            <a:endParaRPr lang="en-US" sz="950" dirty="0"/>
          </a:p>
        </p:txBody>
      </p:sp>
      <p:sp>
        <p:nvSpPr>
          <p:cNvPr id="10" name="Shape 8"/>
          <p:cNvSpPr/>
          <p:nvPr/>
        </p:nvSpPr>
        <p:spPr>
          <a:xfrm>
            <a:off x="7452360" y="4251960"/>
            <a:ext cx="4069080" cy="1005840"/>
          </a:xfrm>
          <a:prstGeom prst="roundRect">
            <a:avLst>
              <a:gd name="adj" fmla="val 5455"/>
            </a:avLst>
          </a:prstGeom>
          <a:solidFill>
            <a:srgbClr val="FFFFFF"/>
          </a:solidFill>
          <a:ln w="12700">
            <a:solidFill>
              <a:srgbClr val="D7DEE8"/>
            </a:solidFill>
            <a:prstDash val="solid"/>
          </a:ln>
        </p:spPr>
      </p:sp>
      <p:sp>
        <p:nvSpPr>
          <p:cNvPr id="11" name="Shape 9"/>
          <p:cNvSpPr/>
          <p:nvPr/>
        </p:nvSpPr>
        <p:spPr>
          <a:xfrm>
            <a:off x="7452360" y="4251960"/>
            <a:ext cx="73152" cy="1005840"/>
          </a:xfrm>
          <a:prstGeom prst="rect">
            <a:avLst/>
          </a:prstGeom>
          <a:solidFill>
            <a:srgbClr val="0F766E"/>
          </a:solidFill>
          <a:ln w="12700">
            <a:solidFill>
              <a:srgbClr val="0F766E"/>
            </a:solidFill>
            <a:prstDash val="solid"/>
          </a:ln>
        </p:spPr>
      </p:sp>
      <p:sp>
        <p:nvSpPr>
          <p:cNvPr id="12" name="Text 10"/>
          <p:cNvSpPr/>
          <p:nvPr/>
        </p:nvSpPr>
        <p:spPr>
          <a:xfrm>
            <a:off x="7662672" y="4398264"/>
            <a:ext cx="3685032" cy="256032"/>
          </a:xfrm>
          <a:prstGeom prst="rect">
            <a:avLst/>
          </a:prstGeom>
          <a:noFill/>
          <a:ln/>
        </p:spPr>
        <p:txBody>
          <a:bodyPr wrap="square" lIns="0" tIns="0" rIns="0" bIns="0" rtlCol="0" anchor="ctr"/>
          <a:lstStyle/>
          <a:p>
            <a:pPr indent="0" marL="0">
              <a:buNone/>
            </a:pPr>
            <a:r>
              <a:rPr lang="en-US" sz="1250" b="1" dirty="0">
                <a:solidFill>
                  <a:srgbClr val="17212B"/>
                </a:solidFill>
              </a:rPr>
              <a:t>Backend language</a:t>
            </a:r>
            <a:endParaRPr lang="en-US" sz="1250" dirty="0"/>
          </a:p>
        </p:txBody>
      </p:sp>
      <p:sp>
        <p:nvSpPr>
          <p:cNvPr id="13" name="Text 11"/>
          <p:cNvSpPr/>
          <p:nvPr/>
        </p:nvSpPr>
        <p:spPr>
          <a:xfrm>
            <a:off x="7662672" y="4727448"/>
            <a:ext cx="3685032" cy="43891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Java is used for the backend server, route handling, validation, and data storage.</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API</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API Routes</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How frontend and backend communicate</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7</a:t>
            </a:r>
            <a:endParaRPr lang="en-US" sz="800" dirty="0"/>
          </a:p>
        </p:txBody>
      </p:sp>
      <p:sp>
        <p:nvSpPr>
          <p:cNvPr id="7" name="Shape 5"/>
          <p:cNvSpPr/>
          <p:nvPr/>
        </p:nvSpPr>
        <p:spPr>
          <a:xfrm>
            <a:off x="777240" y="1828800"/>
            <a:ext cx="4754880" cy="914400"/>
          </a:xfrm>
          <a:prstGeom prst="roundRect">
            <a:avLst>
              <a:gd name="adj" fmla="val 6000"/>
            </a:avLst>
          </a:prstGeom>
          <a:solidFill>
            <a:srgbClr val="FFFFFF"/>
          </a:solidFill>
          <a:ln w="12700">
            <a:solidFill>
              <a:srgbClr val="D7DEE8"/>
            </a:solidFill>
            <a:prstDash val="solid"/>
          </a:ln>
        </p:spPr>
      </p:sp>
      <p:sp>
        <p:nvSpPr>
          <p:cNvPr id="8" name="Shape 6"/>
          <p:cNvSpPr/>
          <p:nvPr/>
        </p:nvSpPr>
        <p:spPr>
          <a:xfrm>
            <a:off x="777240" y="1828800"/>
            <a:ext cx="73152" cy="914400"/>
          </a:xfrm>
          <a:prstGeom prst="rect">
            <a:avLst/>
          </a:prstGeom>
          <a:solidFill>
            <a:srgbClr val="1D4ED8"/>
          </a:solidFill>
          <a:ln w="12700">
            <a:solidFill>
              <a:srgbClr val="1D4ED8"/>
            </a:solidFill>
            <a:prstDash val="solid"/>
          </a:ln>
        </p:spPr>
      </p:sp>
      <p:sp>
        <p:nvSpPr>
          <p:cNvPr id="9" name="Text 7"/>
          <p:cNvSpPr/>
          <p:nvPr/>
        </p:nvSpPr>
        <p:spPr>
          <a:xfrm>
            <a:off x="987552" y="1975104"/>
            <a:ext cx="4370832" cy="256032"/>
          </a:xfrm>
          <a:prstGeom prst="rect">
            <a:avLst/>
          </a:prstGeom>
          <a:noFill/>
          <a:ln/>
        </p:spPr>
        <p:txBody>
          <a:bodyPr wrap="square" lIns="0" tIns="0" rIns="0" bIns="0" rtlCol="0" anchor="ctr"/>
          <a:lstStyle/>
          <a:p>
            <a:pPr indent="0" marL="0">
              <a:buNone/>
            </a:pPr>
            <a:r>
              <a:rPr lang="en-US" sz="1250" b="1" dirty="0">
                <a:solidFill>
                  <a:srgbClr val="17212B"/>
                </a:solidFill>
              </a:rPr>
              <a:t>GET /api/listings</a:t>
            </a:r>
            <a:endParaRPr lang="en-US" sz="1250" dirty="0"/>
          </a:p>
        </p:txBody>
      </p:sp>
      <p:sp>
        <p:nvSpPr>
          <p:cNvPr id="10" name="Text 8"/>
          <p:cNvSpPr/>
          <p:nvPr/>
        </p:nvSpPr>
        <p:spPr>
          <a:xfrm>
            <a:off x="987552" y="2304288"/>
            <a:ext cx="4370832" cy="34747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Returns dorm listings sorted by price.</a:t>
            </a:r>
            <a:endParaRPr lang="en-US" sz="1020" dirty="0"/>
          </a:p>
        </p:txBody>
      </p:sp>
      <p:sp>
        <p:nvSpPr>
          <p:cNvPr id="11" name="Shape 9"/>
          <p:cNvSpPr/>
          <p:nvPr/>
        </p:nvSpPr>
        <p:spPr>
          <a:xfrm>
            <a:off x="777240" y="3017520"/>
            <a:ext cx="4754880" cy="914400"/>
          </a:xfrm>
          <a:prstGeom prst="roundRect">
            <a:avLst>
              <a:gd name="adj" fmla="val 6000"/>
            </a:avLst>
          </a:prstGeom>
          <a:solidFill>
            <a:srgbClr val="FFFFFF"/>
          </a:solidFill>
          <a:ln w="12700">
            <a:solidFill>
              <a:srgbClr val="D7DEE8"/>
            </a:solidFill>
            <a:prstDash val="solid"/>
          </a:ln>
        </p:spPr>
      </p:sp>
      <p:sp>
        <p:nvSpPr>
          <p:cNvPr id="12" name="Shape 10"/>
          <p:cNvSpPr/>
          <p:nvPr/>
        </p:nvSpPr>
        <p:spPr>
          <a:xfrm>
            <a:off x="777240" y="3017520"/>
            <a:ext cx="73152" cy="914400"/>
          </a:xfrm>
          <a:prstGeom prst="rect">
            <a:avLst/>
          </a:prstGeom>
          <a:solidFill>
            <a:srgbClr val="1D4ED8"/>
          </a:solidFill>
          <a:ln w="12700">
            <a:solidFill>
              <a:srgbClr val="1D4ED8"/>
            </a:solidFill>
            <a:prstDash val="solid"/>
          </a:ln>
        </p:spPr>
      </p:sp>
      <p:sp>
        <p:nvSpPr>
          <p:cNvPr id="13" name="Text 11"/>
          <p:cNvSpPr/>
          <p:nvPr/>
        </p:nvSpPr>
        <p:spPr>
          <a:xfrm>
            <a:off x="987552" y="3163824"/>
            <a:ext cx="4370832" cy="256032"/>
          </a:xfrm>
          <a:prstGeom prst="rect">
            <a:avLst/>
          </a:prstGeom>
          <a:noFill/>
          <a:ln/>
        </p:spPr>
        <p:txBody>
          <a:bodyPr wrap="square" lIns="0" tIns="0" rIns="0" bIns="0" rtlCol="0" anchor="ctr"/>
          <a:lstStyle/>
          <a:p>
            <a:pPr indent="0" marL="0">
              <a:buNone/>
            </a:pPr>
            <a:r>
              <a:rPr lang="en-US" sz="1250" b="1" dirty="0">
                <a:solidFill>
                  <a:srgbClr val="17212B"/>
                </a:solidFill>
              </a:rPr>
              <a:t>POST /api/listings</a:t>
            </a:r>
            <a:endParaRPr lang="en-US" sz="1250" dirty="0"/>
          </a:p>
        </p:txBody>
      </p:sp>
      <p:sp>
        <p:nvSpPr>
          <p:cNvPr id="14" name="Text 12"/>
          <p:cNvSpPr/>
          <p:nvPr/>
        </p:nvSpPr>
        <p:spPr>
          <a:xfrm>
            <a:off x="987552" y="3493008"/>
            <a:ext cx="4370832" cy="34747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Creates a new dorm listing from form data.</a:t>
            </a:r>
            <a:endParaRPr lang="en-US" sz="1020" dirty="0"/>
          </a:p>
        </p:txBody>
      </p:sp>
      <p:sp>
        <p:nvSpPr>
          <p:cNvPr id="15" name="Shape 13"/>
          <p:cNvSpPr/>
          <p:nvPr/>
        </p:nvSpPr>
        <p:spPr>
          <a:xfrm>
            <a:off x="6537960" y="1828800"/>
            <a:ext cx="4754880" cy="914400"/>
          </a:xfrm>
          <a:prstGeom prst="roundRect">
            <a:avLst>
              <a:gd name="adj" fmla="val 6000"/>
            </a:avLst>
          </a:prstGeom>
          <a:solidFill>
            <a:srgbClr val="FFFFFF"/>
          </a:solidFill>
          <a:ln w="12700">
            <a:solidFill>
              <a:srgbClr val="D7DEE8"/>
            </a:solidFill>
            <a:prstDash val="solid"/>
          </a:ln>
        </p:spPr>
      </p:sp>
      <p:sp>
        <p:nvSpPr>
          <p:cNvPr id="16" name="Shape 14"/>
          <p:cNvSpPr/>
          <p:nvPr/>
        </p:nvSpPr>
        <p:spPr>
          <a:xfrm>
            <a:off x="6537960" y="1828800"/>
            <a:ext cx="73152" cy="914400"/>
          </a:xfrm>
          <a:prstGeom prst="rect">
            <a:avLst/>
          </a:prstGeom>
          <a:solidFill>
            <a:srgbClr val="0F766E"/>
          </a:solidFill>
          <a:ln w="12700">
            <a:solidFill>
              <a:srgbClr val="0F766E"/>
            </a:solidFill>
            <a:prstDash val="solid"/>
          </a:ln>
        </p:spPr>
      </p:sp>
      <p:sp>
        <p:nvSpPr>
          <p:cNvPr id="17" name="Text 15"/>
          <p:cNvSpPr/>
          <p:nvPr/>
        </p:nvSpPr>
        <p:spPr>
          <a:xfrm>
            <a:off x="6748272" y="1975104"/>
            <a:ext cx="4370832" cy="256032"/>
          </a:xfrm>
          <a:prstGeom prst="rect">
            <a:avLst/>
          </a:prstGeom>
          <a:noFill/>
          <a:ln/>
        </p:spPr>
        <p:txBody>
          <a:bodyPr wrap="square" lIns="0" tIns="0" rIns="0" bIns="0" rtlCol="0" anchor="ctr"/>
          <a:lstStyle/>
          <a:p>
            <a:pPr indent="0" marL="0">
              <a:buNone/>
            </a:pPr>
            <a:r>
              <a:rPr lang="en-US" sz="1250" b="1" dirty="0">
                <a:solidFill>
                  <a:srgbClr val="17212B"/>
                </a:solidFill>
              </a:rPr>
              <a:t>GET /api/roommates</a:t>
            </a:r>
            <a:endParaRPr lang="en-US" sz="1250" dirty="0"/>
          </a:p>
        </p:txBody>
      </p:sp>
      <p:sp>
        <p:nvSpPr>
          <p:cNvPr id="18" name="Text 16"/>
          <p:cNvSpPr/>
          <p:nvPr/>
        </p:nvSpPr>
        <p:spPr>
          <a:xfrm>
            <a:off x="6748272" y="2304288"/>
            <a:ext cx="4370832" cy="34747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Returns roommate posts sorted by move-in date.</a:t>
            </a:r>
            <a:endParaRPr lang="en-US" sz="1020" dirty="0"/>
          </a:p>
        </p:txBody>
      </p:sp>
      <p:sp>
        <p:nvSpPr>
          <p:cNvPr id="19" name="Shape 17"/>
          <p:cNvSpPr/>
          <p:nvPr/>
        </p:nvSpPr>
        <p:spPr>
          <a:xfrm>
            <a:off x="6537960" y="3017520"/>
            <a:ext cx="4754880" cy="914400"/>
          </a:xfrm>
          <a:prstGeom prst="roundRect">
            <a:avLst>
              <a:gd name="adj" fmla="val 6000"/>
            </a:avLst>
          </a:prstGeom>
          <a:solidFill>
            <a:srgbClr val="FFFFFF"/>
          </a:solidFill>
          <a:ln w="12700">
            <a:solidFill>
              <a:srgbClr val="D7DEE8"/>
            </a:solidFill>
            <a:prstDash val="solid"/>
          </a:ln>
        </p:spPr>
      </p:sp>
      <p:sp>
        <p:nvSpPr>
          <p:cNvPr id="20" name="Shape 18"/>
          <p:cNvSpPr/>
          <p:nvPr/>
        </p:nvSpPr>
        <p:spPr>
          <a:xfrm>
            <a:off x="6537960" y="3017520"/>
            <a:ext cx="73152" cy="914400"/>
          </a:xfrm>
          <a:prstGeom prst="rect">
            <a:avLst/>
          </a:prstGeom>
          <a:solidFill>
            <a:srgbClr val="0F766E"/>
          </a:solidFill>
          <a:ln w="12700">
            <a:solidFill>
              <a:srgbClr val="0F766E"/>
            </a:solidFill>
            <a:prstDash val="solid"/>
          </a:ln>
        </p:spPr>
      </p:sp>
      <p:sp>
        <p:nvSpPr>
          <p:cNvPr id="21" name="Text 19"/>
          <p:cNvSpPr/>
          <p:nvPr/>
        </p:nvSpPr>
        <p:spPr>
          <a:xfrm>
            <a:off x="6748272" y="3163824"/>
            <a:ext cx="4370832" cy="256032"/>
          </a:xfrm>
          <a:prstGeom prst="rect">
            <a:avLst/>
          </a:prstGeom>
          <a:noFill/>
          <a:ln/>
        </p:spPr>
        <p:txBody>
          <a:bodyPr wrap="square" lIns="0" tIns="0" rIns="0" bIns="0" rtlCol="0" anchor="ctr"/>
          <a:lstStyle/>
          <a:p>
            <a:pPr indent="0" marL="0">
              <a:buNone/>
            </a:pPr>
            <a:r>
              <a:rPr lang="en-US" sz="1250" b="1" dirty="0">
                <a:solidFill>
                  <a:srgbClr val="17212B"/>
                </a:solidFill>
              </a:rPr>
              <a:t>POST /api/roommates</a:t>
            </a:r>
            <a:endParaRPr lang="en-US" sz="1250" dirty="0"/>
          </a:p>
        </p:txBody>
      </p:sp>
      <p:sp>
        <p:nvSpPr>
          <p:cNvPr id="22" name="Text 20"/>
          <p:cNvSpPr/>
          <p:nvPr/>
        </p:nvSpPr>
        <p:spPr>
          <a:xfrm>
            <a:off x="6748272" y="3493008"/>
            <a:ext cx="4370832" cy="34747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Creates a new roommate profile from form data.</a:t>
            </a:r>
            <a:endParaRPr lang="en-US" sz="1020" dirty="0"/>
          </a:p>
        </p:txBody>
      </p:sp>
      <p:sp>
        <p:nvSpPr>
          <p:cNvPr id="23" name="Shape 21"/>
          <p:cNvSpPr/>
          <p:nvPr/>
        </p:nvSpPr>
        <p:spPr>
          <a:xfrm>
            <a:off x="2926080" y="4663440"/>
            <a:ext cx="6355080" cy="868680"/>
          </a:xfrm>
          <a:prstGeom prst="roundRect">
            <a:avLst>
              <a:gd name="adj" fmla="val 6316"/>
            </a:avLst>
          </a:prstGeom>
          <a:solidFill>
            <a:srgbClr val="0F172A"/>
          </a:solidFill>
          <a:ln w="12700">
            <a:solidFill>
              <a:srgbClr val="263246"/>
            </a:solidFill>
            <a:prstDash val="solid"/>
          </a:ln>
        </p:spPr>
      </p:sp>
      <p:sp>
        <p:nvSpPr>
          <p:cNvPr id="24" name="Text 22"/>
          <p:cNvSpPr/>
          <p:nvPr/>
        </p:nvSpPr>
        <p:spPr>
          <a:xfrm>
            <a:off x="3090672" y="4809744"/>
            <a:ext cx="6025896" cy="576072"/>
          </a:xfrm>
          <a:prstGeom prst="rect">
            <a:avLst/>
          </a:prstGeom>
          <a:noFill/>
          <a:ln/>
        </p:spPr>
        <p:txBody>
          <a:bodyPr wrap="square" lIns="0" tIns="0" rIns="0" bIns="0" rtlCol="0" anchor="ctr">
            <a:normAutofit/>
          </a:bodyPr>
          <a:lstStyle/>
          <a:p>
            <a:pPr indent="0" marL="0">
              <a:buNone/>
            </a:pPr>
            <a:r>
              <a:rPr lang="en-US" sz="950" dirty="0">
                <a:solidFill>
                  <a:srgbClr val="E5E7EB"/>
                </a:solidFill>
                <a:latin typeface="Consolas" pitchFamily="34" charset="0"/>
                <a:ea typeface="Consolas" pitchFamily="34" charset="-122"/>
                <a:cs typeface="Consolas" pitchFamily="34" charset="-120"/>
              </a:rPr>
              <a:t>GET = read existing data</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POST = submit new data</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JSON = response format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Data</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Data Layer and Database Perspective</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What stores the information</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8</a:t>
            </a:r>
            <a:endParaRPr lang="en-US" sz="800" dirty="0"/>
          </a:p>
        </p:txBody>
      </p:sp>
      <p:sp>
        <p:nvSpPr>
          <p:cNvPr id="7" name="Shape 5"/>
          <p:cNvSpPr/>
          <p:nvPr/>
        </p:nvSpPr>
        <p:spPr>
          <a:xfrm>
            <a:off x="822960" y="1828800"/>
            <a:ext cx="5394960" cy="1417320"/>
          </a:xfrm>
          <a:prstGeom prst="roundRect">
            <a:avLst>
              <a:gd name="adj" fmla="val 3871"/>
            </a:avLst>
          </a:prstGeom>
          <a:solidFill>
            <a:srgbClr val="0F172A"/>
          </a:solidFill>
          <a:ln w="12700">
            <a:solidFill>
              <a:srgbClr val="263246"/>
            </a:solidFill>
            <a:prstDash val="solid"/>
          </a:ln>
        </p:spPr>
      </p:sp>
      <p:sp>
        <p:nvSpPr>
          <p:cNvPr id="8" name="Text 6"/>
          <p:cNvSpPr/>
          <p:nvPr/>
        </p:nvSpPr>
        <p:spPr>
          <a:xfrm>
            <a:off x="987552" y="1975104"/>
            <a:ext cx="5065776" cy="1124712"/>
          </a:xfrm>
          <a:prstGeom prst="rect">
            <a:avLst/>
          </a:prstGeom>
          <a:noFill/>
          <a:ln/>
        </p:spPr>
        <p:txBody>
          <a:bodyPr wrap="square" lIns="0" tIns="0" rIns="0" bIns="0" rtlCol="0" anchor="ctr">
            <a:normAutofit/>
          </a:bodyPr>
          <a:lstStyle/>
          <a:p>
            <a:pPr indent="0" marL="0">
              <a:buNone/>
            </a:pPr>
            <a:r>
              <a:rPr lang="en-US" sz="950" dirty="0">
                <a:solidFill>
                  <a:srgbClr val="E5E7EB"/>
                </a:solidFill>
                <a:latin typeface="Consolas" pitchFamily="34" charset="0"/>
                <a:ea typeface="Consolas" pitchFamily="34" charset="-122"/>
                <a:cs typeface="Consolas" pitchFamily="34" charset="-120"/>
              </a:rPr>
              <a:t>CopyOnWriteArrayList&lt;DormListing&gt; listings</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CopyOnWriteArrayList&lt;RoommatePost&gt; roommatePosts</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AtomicInteger listingIds / roommateIds</a:t>
            </a:r>
            <a:endParaRPr lang="en-US" sz="950" dirty="0"/>
          </a:p>
        </p:txBody>
      </p:sp>
      <p:sp>
        <p:nvSpPr>
          <p:cNvPr id="9" name="Text 7"/>
          <p:cNvSpPr/>
          <p:nvPr/>
        </p:nvSpPr>
        <p:spPr>
          <a:xfrm>
            <a:off x="6583680" y="1783080"/>
            <a:ext cx="4572000" cy="3063240"/>
          </a:xfrm>
          <a:prstGeom prst="rect">
            <a:avLst/>
          </a:prstGeom>
          <a:noFill/>
          <a:ln/>
        </p:spPr>
        <p:txBody>
          <a:bodyPr wrap="square" lIns="635" tIns="635" rIns="635" bIns="635" rtlCol="0" anchor="t">
            <a:normAutofit/>
          </a:bodyPr>
          <a:lstStyle/>
          <a:p>
            <a:pPr marL="190500" indent="-190500">
              <a:buSzPct val="100000"/>
              <a:buChar char="•"/>
            </a:pPr>
            <a:r>
              <a:rPr lang="en-US" sz="1420" dirty="0">
                <a:solidFill>
                  <a:srgbClr val="17212B"/>
                </a:solidFill>
              </a:rPr>
              <a:t>This project currently uses in-memory storage.</a:t>
            </a:r>
            <a:endParaRPr lang="en-US" sz="1420" dirty="0"/>
          </a:p>
          <a:p>
            <a:pPr marL="190500" indent="-190500">
              <a:buSzPct val="100000"/>
              <a:buChar char="•"/>
            </a:pPr>
            <a:r>
              <a:rPr lang="en-US" sz="1420" dirty="0">
                <a:solidFill>
                  <a:srgbClr val="17212B"/>
                </a:solidFill>
              </a:rPr>
              <a:t>Data exists only while the Java server is running.</a:t>
            </a:r>
            <a:endParaRPr lang="en-US" sz="1420" dirty="0"/>
          </a:p>
          <a:p>
            <a:pPr marL="190500" indent="-190500">
              <a:buSzPct val="100000"/>
              <a:buChar char="•"/>
            </a:pPr>
            <a:r>
              <a:rPr lang="en-US" sz="1420" dirty="0">
                <a:solidFill>
                  <a:srgbClr val="17212B"/>
                </a:solidFill>
              </a:rPr>
              <a:t>Submitted posts disappear when the server restarts.</a:t>
            </a:r>
            <a:endParaRPr lang="en-US" sz="1420" dirty="0"/>
          </a:p>
          <a:p>
            <a:pPr marL="190500" indent="-190500">
              <a:buSzPct val="100000"/>
              <a:buChar char="•"/>
            </a:pPr>
            <a:r>
              <a:rPr lang="en-US" sz="1420" dirty="0">
                <a:solidFill>
                  <a:srgbClr val="17212B"/>
                </a:solidFill>
              </a:rPr>
              <a:t>For production, this would become MySQL, PostgreSQL, or SQLite.</a:t>
            </a:r>
            <a:endParaRPr lang="en-US" sz="1420" dirty="0"/>
          </a:p>
          <a:p>
            <a:pPr marL="190500" indent="-190500">
              <a:buSzPct val="100000"/>
              <a:buChar char="•"/>
            </a:pPr>
            <a:r>
              <a:rPr lang="en-US" sz="1420" dirty="0">
                <a:solidFill>
                  <a:srgbClr val="17212B"/>
                </a:solidFill>
              </a:rPr>
              <a:t>The Java records map naturally to database tables.</a:t>
            </a:r>
            <a:endParaRPr lang="en-US" sz="1420" dirty="0"/>
          </a:p>
        </p:txBody>
      </p:sp>
      <p:sp>
        <p:nvSpPr>
          <p:cNvPr id="10" name="Shape 8"/>
          <p:cNvSpPr/>
          <p:nvPr/>
        </p:nvSpPr>
        <p:spPr>
          <a:xfrm>
            <a:off x="1143000" y="4892040"/>
            <a:ext cx="9784080" cy="822960"/>
          </a:xfrm>
          <a:prstGeom prst="roundRect">
            <a:avLst>
              <a:gd name="adj" fmla="val 6667"/>
            </a:avLst>
          </a:prstGeom>
          <a:solidFill>
            <a:srgbClr val="FFFFFF"/>
          </a:solidFill>
          <a:ln w="12700">
            <a:solidFill>
              <a:srgbClr val="D7DEE8"/>
            </a:solidFill>
            <a:prstDash val="solid"/>
          </a:ln>
        </p:spPr>
      </p:sp>
      <p:sp>
        <p:nvSpPr>
          <p:cNvPr id="11" name="Shape 9"/>
          <p:cNvSpPr/>
          <p:nvPr/>
        </p:nvSpPr>
        <p:spPr>
          <a:xfrm>
            <a:off x="1143000" y="4892040"/>
            <a:ext cx="73152" cy="822960"/>
          </a:xfrm>
          <a:prstGeom prst="rect">
            <a:avLst/>
          </a:prstGeom>
          <a:solidFill>
            <a:srgbClr val="C2410C"/>
          </a:solidFill>
          <a:ln w="12700">
            <a:solidFill>
              <a:srgbClr val="C2410C"/>
            </a:solidFill>
            <a:prstDash val="solid"/>
          </a:ln>
        </p:spPr>
      </p:sp>
      <p:sp>
        <p:nvSpPr>
          <p:cNvPr id="12" name="Text 10"/>
          <p:cNvSpPr/>
          <p:nvPr/>
        </p:nvSpPr>
        <p:spPr>
          <a:xfrm>
            <a:off x="1353312" y="5038344"/>
            <a:ext cx="9400032" cy="256032"/>
          </a:xfrm>
          <a:prstGeom prst="rect">
            <a:avLst/>
          </a:prstGeom>
          <a:noFill/>
          <a:ln/>
        </p:spPr>
        <p:txBody>
          <a:bodyPr wrap="square" lIns="0" tIns="0" rIns="0" bIns="0" rtlCol="0" anchor="ctr"/>
          <a:lstStyle/>
          <a:p>
            <a:pPr indent="0" marL="0">
              <a:buNone/>
            </a:pPr>
            <a:r>
              <a:rPr lang="en-US" sz="1250" b="1" dirty="0">
                <a:solidFill>
                  <a:srgbClr val="17212B"/>
                </a:solidFill>
              </a:rPr>
              <a:t>Honest defense</a:t>
            </a:r>
            <a:endParaRPr lang="en-US" sz="1250" dirty="0"/>
          </a:p>
        </p:txBody>
      </p:sp>
      <p:sp>
        <p:nvSpPr>
          <p:cNvPr id="13" name="Text 11"/>
          <p:cNvSpPr/>
          <p:nvPr/>
        </p:nvSpPr>
        <p:spPr>
          <a:xfrm>
            <a:off x="1353312" y="5367528"/>
            <a:ext cx="9400032" cy="25603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The app has a data layer, but not persistent database storage. That is a clear future improvement.</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JSON</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JSON Communication</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The message format used by the API</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9</a:t>
            </a:r>
            <a:endParaRPr lang="en-US" sz="800" dirty="0"/>
          </a:p>
        </p:txBody>
      </p:sp>
      <p:sp>
        <p:nvSpPr>
          <p:cNvPr id="7" name="Shape 5"/>
          <p:cNvSpPr/>
          <p:nvPr/>
        </p:nvSpPr>
        <p:spPr>
          <a:xfrm>
            <a:off x="822960" y="1737360"/>
            <a:ext cx="4343400" cy="3063240"/>
          </a:xfrm>
          <a:prstGeom prst="roundRect">
            <a:avLst>
              <a:gd name="adj" fmla="val 1791"/>
            </a:avLst>
          </a:prstGeom>
          <a:solidFill>
            <a:srgbClr val="0F172A"/>
          </a:solidFill>
          <a:ln w="12700">
            <a:solidFill>
              <a:srgbClr val="263246"/>
            </a:solidFill>
            <a:prstDash val="solid"/>
          </a:ln>
        </p:spPr>
      </p:sp>
      <p:sp>
        <p:nvSpPr>
          <p:cNvPr id="8" name="Text 6"/>
          <p:cNvSpPr/>
          <p:nvPr/>
        </p:nvSpPr>
        <p:spPr>
          <a:xfrm>
            <a:off x="987552" y="1883664"/>
            <a:ext cx="4014216" cy="2770632"/>
          </a:xfrm>
          <a:prstGeom prst="rect">
            <a:avLst/>
          </a:prstGeom>
          <a:noFill/>
          <a:ln/>
        </p:spPr>
        <p:txBody>
          <a:bodyPr wrap="square" lIns="0" tIns="0" rIns="0" bIns="0" rtlCol="0" anchor="ctr">
            <a:normAutofit/>
          </a:bodyPr>
          <a:lstStyle/>
          <a:p>
            <a:pPr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  "listings": [</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      "id": 901,</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      "title": "Sunlit Studio Loft",</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      "price": 420</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p:txBody>
      </p:sp>
      <p:sp>
        <p:nvSpPr>
          <p:cNvPr id="9" name="Text 7"/>
          <p:cNvSpPr/>
          <p:nvPr/>
        </p:nvSpPr>
        <p:spPr>
          <a:xfrm>
            <a:off x="5806440" y="1783080"/>
            <a:ext cx="5394960" cy="3154680"/>
          </a:xfrm>
          <a:prstGeom prst="rect">
            <a:avLst/>
          </a:prstGeom>
          <a:noFill/>
          <a:ln/>
        </p:spPr>
        <p:txBody>
          <a:bodyPr wrap="square" lIns="635" tIns="635" rIns="635" bIns="635" rtlCol="0" anchor="t">
            <a:normAutofit/>
          </a:bodyPr>
          <a:lstStyle/>
          <a:p>
            <a:pPr marL="190500" indent="-190500">
              <a:buSzPct val="100000"/>
              <a:buChar char="•"/>
            </a:pPr>
            <a:r>
              <a:rPr lang="en-US" sz="1400" dirty="0">
                <a:solidFill>
                  <a:srgbClr val="17212B"/>
                </a:solidFill>
              </a:rPr>
              <a:t>JSON is structured text, not a database.</a:t>
            </a:r>
            <a:endParaRPr lang="en-US" sz="1400" dirty="0"/>
          </a:p>
          <a:p>
            <a:pPr marL="190500" indent="-190500">
              <a:buSzPct val="100000"/>
              <a:buChar char="•"/>
            </a:pPr>
            <a:r>
              <a:rPr lang="en-US" sz="1400" dirty="0">
                <a:solidFill>
                  <a:srgbClr val="17212B"/>
                </a:solidFill>
              </a:rPr>
              <a:t>Curly braces create an object.</a:t>
            </a:r>
            <a:endParaRPr lang="en-US" sz="1400" dirty="0"/>
          </a:p>
          <a:p>
            <a:pPr marL="190500" indent="-190500">
              <a:buSzPct val="100000"/>
              <a:buChar char="•"/>
            </a:pPr>
            <a:r>
              <a:rPr lang="en-US" sz="1400" dirty="0">
                <a:solidFill>
                  <a:srgbClr val="17212B"/>
                </a:solidFill>
              </a:rPr>
              <a:t>Square brackets create a list.</a:t>
            </a:r>
            <a:endParaRPr lang="en-US" sz="1400" dirty="0"/>
          </a:p>
          <a:p>
            <a:pPr marL="190500" indent="-190500">
              <a:buSzPct val="100000"/>
              <a:buChar char="•"/>
            </a:pPr>
            <a:r>
              <a:rPr lang="en-US" sz="1400" dirty="0">
                <a:solidFill>
                  <a:srgbClr val="17212B"/>
                </a:solidFill>
              </a:rPr>
              <a:t>Java builds JSON responses.</a:t>
            </a:r>
            <a:endParaRPr lang="en-US" sz="1400" dirty="0"/>
          </a:p>
          <a:p>
            <a:pPr marL="190500" indent="-190500">
              <a:buSzPct val="100000"/>
              <a:buChar char="•"/>
            </a:pPr>
            <a:r>
              <a:rPr lang="en-US" sz="1400" dirty="0">
                <a:solidFill>
                  <a:srgbClr val="17212B"/>
                </a:solidFill>
              </a:rPr>
              <a:t>JavaScript reads JSON using response.json().</a:t>
            </a:r>
            <a:endParaRPr lang="en-US" sz="1400" dirty="0"/>
          </a:p>
          <a:p>
            <a:pPr marL="190500" indent="-190500">
              <a:buSzPct val="100000"/>
              <a:buChar char="•"/>
            </a:pPr>
            <a:r>
              <a:rPr lang="en-US" sz="1400" dirty="0">
                <a:solidFill>
                  <a:srgbClr val="17212B"/>
                </a:solidFill>
              </a:rPr>
              <a:t>Then JavaScript renders the data as cards.</a:t>
            </a:r>
            <a:endParaRPr lang="en-US" sz="1400" dirty="0"/>
          </a:p>
        </p:txBody>
      </p:sp>
      <p:sp>
        <p:nvSpPr>
          <p:cNvPr id="10" name="Shape 8"/>
          <p:cNvSpPr/>
          <p:nvPr/>
        </p:nvSpPr>
        <p:spPr>
          <a:xfrm>
            <a:off x="1051560" y="5166360"/>
            <a:ext cx="9784080" cy="731520"/>
          </a:xfrm>
          <a:prstGeom prst="roundRect">
            <a:avLst>
              <a:gd name="adj" fmla="val 7500"/>
            </a:avLst>
          </a:prstGeom>
          <a:solidFill>
            <a:srgbClr val="FFFFFF"/>
          </a:solidFill>
          <a:ln w="12700">
            <a:solidFill>
              <a:srgbClr val="D7DEE8"/>
            </a:solidFill>
            <a:prstDash val="solid"/>
          </a:ln>
        </p:spPr>
      </p:sp>
      <p:sp>
        <p:nvSpPr>
          <p:cNvPr id="11" name="Shape 9"/>
          <p:cNvSpPr/>
          <p:nvPr/>
        </p:nvSpPr>
        <p:spPr>
          <a:xfrm>
            <a:off x="1051560" y="5166360"/>
            <a:ext cx="73152" cy="731520"/>
          </a:xfrm>
          <a:prstGeom prst="rect">
            <a:avLst/>
          </a:prstGeom>
          <a:solidFill>
            <a:srgbClr val="15803D"/>
          </a:solidFill>
          <a:ln w="12700">
            <a:solidFill>
              <a:srgbClr val="15803D"/>
            </a:solidFill>
            <a:prstDash val="solid"/>
          </a:ln>
        </p:spPr>
      </p:sp>
      <p:sp>
        <p:nvSpPr>
          <p:cNvPr id="12" name="Text 10"/>
          <p:cNvSpPr/>
          <p:nvPr/>
        </p:nvSpPr>
        <p:spPr>
          <a:xfrm>
            <a:off x="1261872" y="5312664"/>
            <a:ext cx="9400032" cy="256032"/>
          </a:xfrm>
          <a:prstGeom prst="rect">
            <a:avLst/>
          </a:prstGeom>
          <a:noFill/>
          <a:ln/>
        </p:spPr>
        <p:txBody>
          <a:bodyPr wrap="square" lIns="0" tIns="0" rIns="0" bIns="0" rtlCol="0" anchor="ctr"/>
          <a:lstStyle/>
          <a:p>
            <a:pPr indent="0" marL="0">
              <a:buNone/>
            </a:pPr>
            <a:r>
              <a:rPr lang="en-US" sz="1250" b="1" dirty="0">
                <a:solidFill>
                  <a:srgbClr val="17212B"/>
                </a:solidFill>
              </a:rPr>
              <a:t>Simple explanation</a:t>
            </a:r>
            <a:endParaRPr lang="en-US" sz="1250" dirty="0"/>
          </a:p>
        </p:txBody>
      </p:sp>
      <p:sp>
        <p:nvSpPr>
          <p:cNvPr id="13" name="Text 11"/>
          <p:cNvSpPr/>
          <p:nvPr/>
        </p:nvSpPr>
        <p:spPr>
          <a:xfrm>
            <a:off x="1261872" y="5641848"/>
            <a:ext cx="9400032" cy="1645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JSON is the common language between the Java backend and JavaScript frontend.</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Demo</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Live Demo Flow</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What to show during presentation</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10</a:t>
            </a:r>
            <a:endParaRPr lang="en-US" sz="800" dirty="0"/>
          </a:p>
        </p:txBody>
      </p:sp>
      <p:sp>
        <p:nvSpPr>
          <p:cNvPr id="7" name="Text 5"/>
          <p:cNvSpPr/>
          <p:nvPr/>
        </p:nvSpPr>
        <p:spPr>
          <a:xfrm>
            <a:off x="822960" y="1737360"/>
            <a:ext cx="6583680" cy="4251960"/>
          </a:xfrm>
          <a:prstGeom prst="rect">
            <a:avLst/>
          </a:prstGeom>
          <a:noFill/>
          <a:ln/>
        </p:spPr>
        <p:txBody>
          <a:bodyPr wrap="square" lIns="635" tIns="635" rIns="635" bIns="635" rtlCol="0" anchor="t">
            <a:normAutofit/>
          </a:bodyPr>
          <a:lstStyle/>
          <a:p>
            <a:pPr marL="190500" indent="-190500">
              <a:buSzPct val="100000"/>
              <a:buChar char="•"/>
            </a:pPr>
            <a:r>
              <a:rPr lang="en-US" sz="1400" dirty="0">
                <a:solidFill>
                  <a:srgbClr val="17212B"/>
                </a:solidFill>
              </a:rPr>
              <a:t>Compile: javac -d out src/DormMateServer.java</a:t>
            </a:r>
            <a:endParaRPr lang="en-US" sz="1400" dirty="0"/>
          </a:p>
          <a:p>
            <a:pPr marL="190500" indent="-190500">
              <a:buSzPct val="100000"/>
              <a:buChar char="•"/>
            </a:pPr>
            <a:r>
              <a:rPr lang="en-US" sz="1400" dirty="0">
                <a:solidFill>
                  <a:srgbClr val="17212B"/>
                </a:solidFill>
              </a:rPr>
              <a:t>Run: java -cp out DormMateServer</a:t>
            </a:r>
            <a:endParaRPr lang="en-US" sz="1400" dirty="0"/>
          </a:p>
          <a:p>
            <a:pPr marL="190500" indent="-190500">
              <a:buSzPct val="100000"/>
              <a:buChar char="•"/>
            </a:pPr>
            <a:r>
              <a:rPr lang="en-US" sz="1400" dirty="0">
                <a:solidFill>
                  <a:srgbClr val="17212B"/>
                </a:solidFill>
              </a:rPr>
              <a:t>Open: http://localhost:8080</a:t>
            </a:r>
            <a:endParaRPr lang="en-US" sz="1400" dirty="0"/>
          </a:p>
          <a:p>
            <a:pPr marL="190500" indent="-190500">
              <a:buSzPct val="100000"/>
              <a:buChar char="•"/>
            </a:pPr>
            <a:r>
              <a:rPr lang="en-US" sz="1400" dirty="0">
                <a:solidFill>
                  <a:srgbClr val="17212B"/>
                </a:solidFill>
              </a:rPr>
              <a:t>Show dorm listings and roommate profiles.</a:t>
            </a:r>
            <a:endParaRPr lang="en-US" sz="1400" dirty="0"/>
          </a:p>
          <a:p>
            <a:pPr marL="190500" indent="-190500">
              <a:buSzPct val="100000"/>
              <a:buChar char="•"/>
            </a:pPr>
            <a:r>
              <a:rPr lang="en-US" sz="1400" dirty="0">
                <a:solidFill>
                  <a:srgbClr val="17212B"/>
                </a:solidFill>
              </a:rPr>
              <a:t>Submit a new dorm listing.</a:t>
            </a:r>
            <a:endParaRPr lang="en-US" sz="1400" dirty="0"/>
          </a:p>
          <a:p>
            <a:pPr marL="190500" indent="-190500">
              <a:buSzPct val="100000"/>
              <a:buChar char="•"/>
            </a:pPr>
            <a:r>
              <a:rPr lang="en-US" sz="1400" dirty="0">
                <a:solidFill>
                  <a:srgbClr val="17212B"/>
                </a:solidFill>
              </a:rPr>
              <a:t>Submit a new roommate request.</a:t>
            </a:r>
            <a:endParaRPr lang="en-US" sz="1400" dirty="0"/>
          </a:p>
          <a:p>
            <a:pPr marL="190500" indent="-190500">
              <a:buSzPct val="100000"/>
              <a:buChar char="•"/>
            </a:pPr>
            <a:r>
              <a:rPr lang="en-US" sz="1400" dirty="0">
                <a:solidFill>
                  <a:srgbClr val="17212B"/>
                </a:solidFill>
              </a:rPr>
              <a:t>Explain that JavaScript sends POST requests and reloads data from the backend.</a:t>
            </a:r>
            <a:endParaRPr lang="en-US" sz="1400" dirty="0"/>
          </a:p>
        </p:txBody>
      </p:sp>
      <p:sp>
        <p:nvSpPr>
          <p:cNvPr id="8" name="Shape 6"/>
          <p:cNvSpPr/>
          <p:nvPr/>
        </p:nvSpPr>
        <p:spPr>
          <a:xfrm>
            <a:off x="7635240" y="2148840"/>
            <a:ext cx="3657600" cy="1005840"/>
          </a:xfrm>
          <a:prstGeom prst="roundRect">
            <a:avLst>
              <a:gd name="adj" fmla="val 5455"/>
            </a:avLst>
          </a:prstGeom>
          <a:solidFill>
            <a:srgbClr val="0F172A"/>
          </a:solidFill>
          <a:ln w="12700">
            <a:solidFill>
              <a:srgbClr val="263246"/>
            </a:solidFill>
            <a:prstDash val="solid"/>
          </a:ln>
        </p:spPr>
      </p:sp>
      <p:sp>
        <p:nvSpPr>
          <p:cNvPr id="9" name="Text 7"/>
          <p:cNvSpPr/>
          <p:nvPr/>
        </p:nvSpPr>
        <p:spPr>
          <a:xfrm>
            <a:off x="7799832" y="2295144"/>
            <a:ext cx="3328416" cy="713232"/>
          </a:xfrm>
          <a:prstGeom prst="rect">
            <a:avLst/>
          </a:prstGeom>
          <a:noFill/>
          <a:ln/>
        </p:spPr>
        <p:txBody>
          <a:bodyPr wrap="square" lIns="0" tIns="0" rIns="0" bIns="0" rtlCol="0" anchor="ctr">
            <a:normAutofit/>
          </a:bodyPr>
          <a:lstStyle/>
          <a:p>
            <a:pPr indent="0" marL="0">
              <a:buNone/>
            </a:pPr>
            <a:r>
              <a:rPr lang="en-US" sz="950" dirty="0">
                <a:solidFill>
                  <a:srgbClr val="E5E7EB"/>
                </a:solidFill>
                <a:latin typeface="Consolas" pitchFamily="34" charset="0"/>
                <a:ea typeface="Consolas" pitchFamily="34" charset="-122"/>
                <a:cs typeface="Consolas" pitchFamily="34" charset="-120"/>
              </a:rPr>
              <a:t>javac -d out src/DormMateServer.java</a:t>
            </a:r>
            <a:endParaRPr lang="en-US" sz="950" dirty="0"/>
          </a:p>
          <a:p>
            <a:pPr indent="0" marL="0">
              <a:buNone/>
            </a:pPr>
            <a:r>
              <a:rPr lang="en-US" sz="950" dirty="0">
                <a:solidFill>
                  <a:srgbClr val="E5E7EB"/>
                </a:solidFill>
                <a:latin typeface="Consolas" pitchFamily="34" charset="0"/>
                <a:ea typeface="Consolas" pitchFamily="34" charset="-122"/>
                <a:cs typeface="Consolas" pitchFamily="34" charset="-120"/>
              </a:rPr>
              <a:t>java -cp out DormMateServer</a:t>
            </a:r>
            <a:endParaRPr lang="en-US" sz="950" dirty="0"/>
          </a:p>
        </p:txBody>
      </p:sp>
      <p:sp>
        <p:nvSpPr>
          <p:cNvPr id="10" name="Shape 8"/>
          <p:cNvSpPr/>
          <p:nvPr/>
        </p:nvSpPr>
        <p:spPr>
          <a:xfrm>
            <a:off x="7635240" y="3886200"/>
            <a:ext cx="3657600" cy="1097280"/>
          </a:xfrm>
          <a:prstGeom prst="roundRect">
            <a:avLst>
              <a:gd name="adj" fmla="val 5000"/>
            </a:avLst>
          </a:prstGeom>
          <a:solidFill>
            <a:srgbClr val="FFFFFF"/>
          </a:solidFill>
          <a:ln w="12700">
            <a:solidFill>
              <a:srgbClr val="D7DEE8"/>
            </a:solidFill>
            <a:prstDash val="solid"/>
          </a:ln>
        </p:spPr>
      </p:sp>
      <p:sp>
        <p:nvSpPr>
          <p:cNvPr id="11" name="Shape 9"/>
          <p:cNvSpPr/>
          <p:nvPr/>
        </p:nvSpPr>
        <p:spPr>
          <a:xfrm>
            <a:off x="7635240" y="3886200"/>
            <a:ext cx="73152" cy="1097280"/>
          </a:xfrm>
          <a:prstGeom prst="rect">
            <a:avLst/>
          </a:prstGeom>
          <a:solidFill>
            <a:srgbClr val="1D4ED8"/>
          </a:solidFill>
          <a:ln w="12700">
            <a:solidFill>
              <a:srgbClr val="1D4ED8"/>
            </a:solidFill>
            <a:prstDash val="solid"/>
          </a:ln>
        </p:spPr>
      </p:sp>
      <p:sp>
        <p:nvSpPr>
          <p:cNvPr id="12" name="Text 10"/>
          <p:cNvSpPr/>
          <p:nvPr/>
        </p:nvSpPr>
        <p:spPr>
          <a:xfrm>
            <a:off x="7845552" y="4032504"/>
            <a:ext cx="3273552" cy="256032"/>
          </a:xfrm>
          <a:prstGeom prst="rect">
            <a:avLst/>
          </a:prstGeom>
          <a:noFill/>
          <a:ln/>
        </p:spPr>
        <p:txBody>
          <a:bodyPr wrap="square" lIns="0" tIns="0" rIns="0" bIns="0" rtlCol="0" anchor="ctr"/>
          <a:lstStyle/>
          <a:p>
            <a:pPr indent="0" marL="0">
              <a:buNone/>
            </a:pPr>
            <a:r>
              <a:rPr lang="en-US" sz="1250" b="1" dirty="0">
                <a:solidFill>
                  <a:srgbClr val="17212B"/>
                </a:solidFill>
              </a:rPr>
              <a:t>Demo point</a:t>
            </a:r>
            <a:endParaRPr lang="en-US" sz="1250" dirty="0"/>
          </a:p>
        </p:txBody>
      </p:sp>
      <p:sp>
        <p:nvSpPr>
          <p:cNvPr id="13" name="Text 11"/>
          <p:cNvSpPr/>
          <p:nvPr/>
        </p:nvSpPr>
        <p:spPr>
          <a:xfrm>
            <a:off x="7845552" y="4361688"/>
            <a:ext cx="3273552" cy="53035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Every submission proves the full stack loop from browser to Java and back.</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Quality</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Validation, Security, and Limits</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What works and what can improve</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11</a:t>
            </a:r>
            <a:endParaRPr lang="en-US" sz="800" dirty="0"/>
          </a:p>
        </p:txBody>
      </p:sp>
      <p:sp>
        <p:nvSpPr>
          <p:cNvPr id="7" name="Shape 5"/>
          <p:cNvSpPr/>
          <p:nvPr/>
        </p:nvSpPr>
        <p:spPr>
          <a:xfrm>
            <a:off x="777240" y="1828800"/>
            <a:ext cx="3337560" cy="1417320"/>
          </a:xfrm>
          <a:prstGeom prst="roundRect">
            <a:avLst>
              <a:gd name="adj" fmla="val 3871"/>
            </a:avLst>
          </a:prstGeom>
          <a:solidFill>
            <a:srgbClr val="FFFFFF"/>
          </a:solidFill>
          <a:ln w="12700">
            <a:solidFill>
              <a:srgbClr val="D7DEE8"/>
            </a:solidFill>
            <a:prstDash val="solid"/>
          </a:ln>
        </p:spPr>
      </p:sp>
      <p:sp>
        <p:nvSpPr>
          <p:cNvPr id="8" name="Shape 6"/>
          <p:cNvSpPr/>
          <p:nvPr/>
        </p:nvSpPr>
        <p:spPr>
          <a:xfrm>
            <a:off x="777240" y="1828800"/>
            <a:ext cx="73152" cy="1417320"/>
          </a:xfrm>
          <a:prstGeom prst="rect">
            <a:avLst/>
          </a:prstGeom>
          <a:solidFill>
            <a:srgbClr val="15803D"/>
          </a:solidFill>
          <a:ln w="12700">
            <a:solidFill>
              <a:srgbClr val="15803D"/>
            </a:solidFill>
            <a:prstDash val="solid"/>
          </a:ln>
        </p:spPr>
      </p:sp>
      <p:sp>
        <p:nvSpPr>
          <p:cNvPr id="9" name="Text 7"/>
          <p:cNvSpPr/>
          <p:nvPr/>
        </p:nvSpPr>
        <p:spPr>
          <a:xfrm>
            <a:off x="987552" y="1975104"/>
            <a:ext cx="2953512" cy="256032"/>
          </a:xfrm>
          <a:prstGeom prst="rect">
            <a:avLst/>
          </a:prstGeom>
          <a:noFill/>
          <a:ln/>
        </p:spPr>
        <p:txBody>
          <a:bodyPr wrap="square" lIns="0" tIns="0" rIns="0" bIns="0" rtlCol="0" anchor="ctr"/>
          <a:lstStyle/>
          <a:p>
            <a:pPr indent="0" marL="0">
              <a:buNone/>
            </a:pPr>
            <a:r>
              <a:rPr lang="en-US" sz="1250" b="1" dirty="0">
                <a:solidFill>
                  <a:srgbClr val="17212B"/>
                </a:solidFill>
              </a:rPr>
              <a:t>Validation</a:t>
            </a:r>
            <a:endParaRPr lang="en-US" sz="1250" dirty="0"/>
          </a:p>
        </p:txBody>
      </p:sp>
      <p:sp>
        <p:nvSpPr>
          <p:cNvPr id="10" name="Text 8"/>
          <p:cNvSpPr/>
          <p:nvPr/>
        </p:nvSpPr>
        <p:spPr>
          <a:xfrm>
            <a:off x="987552" y="2304288"/>
            <a:ext cx="295351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HTML uses required fields and input types. Java also checks required values and invalid data.</a:t>
            </a:r>
            <a:endParaRPr lang="en-US" sz="1020" dirty="0"/>
          </a:p>
        </p:txBody>
      </p:sp>
      <p:sp>
        <p:nvSpPr>
          <p:cNvPr id="11" name="Shape 9"/>
          <p:cNvSpPr/>
          <p:nvPr/>
        </p:nvSpPr>
        <p:spPr>
          <a:xfrm>
            <a:off x="4434840" y="1828800"/>
            <a:ext cx="3337560" cy="1417320"/>
          </a:xfrm>
          <a:prstGeom prst="roundRect">
            <a:avLst>
              <a:gd name="adj" fmla="val 3871"/>
            </a:avLst>
          </a:prstGeom>
          <a:solidFill>
            <a:srgbClr val="FFFFFF"/>
          </a:solidFill>
          <a:ln w="12700">
            <a:solidFill>
              <a:srgbClr val="D7DEE8"/>
            </a:solidFill>
            <a:prstDash val="solid"/>
          </a:ln>
        </p:spPr>
      </p:sp>
      <p:sp>
        <p:nvSpPr>
          <p:cNvPr id="12" name="Shape 10"/>
          <p:cNvSpPr/>
          <p:nvPr/>
        </p:nvSpPr>
        <p:spPr>
          <a:xfrm>
            <a:off x="4434840" y="1828800"/>
            <a:ext cx="73152" cy="1417320"/>
          </a:xfrm>
          <a:prstGeom prst="rect">
            <a:avLst/>
          </a:prstGeom>
          <a:solidFill>
            <a:srgbClr val="1D4ED8"/>
          </a:solidFill>
          <a:ln w="12700">
            <a:solidFill>
              <a:srgbClr val="1D4ED8"/>
            </a:solidFill>
            <a:prstDash val="solid"/>
          </a:ln>
        </p:spPr>
      </p:sp>
      <p:sp>
        <p:nvSpPr>
          <p:cNvPr id="13" name="Text 11"/>
          <p:cNvSpPr/>
          <p:nvPr/>
        </p:nvSpPr>
        <p:spPr>
          <a:xfrm>
            <a:off x="4645152" y="1975104"/>
            <a:ext cx="2953512" cy="256032"/>
          </a:xfrm>
          <a:prstGeom prst="rect">
            <a:avLst/>
          </a:prstGeom>
          <a:noFill/>
          <a:ln/>
        </p:spPr>
        <p:txBody>
          <a:bodyPr wrap="square" lIns="0" tIns="0" rIns="0" bIns="0" rtlCol="0" anchor="ctr"/>
          <a:lstStyle/>
          <a:p>
            <a:pPr indent="0" marL="0">
              <a:buNone/>
            </a:pPr>
            <a:r>
              <a:rPr lang="en-US" sz="1250" b="1" dirty="0">
                <a:solidFill>
                  <a:srgbClr val="17212B"/>
                </a:solidFill>
              </a:rPr>
              <a:t>Security</a:t>
            </a:r>
            <a:endParaRPr lang="en-US" sz="1250" dirty="0"/>
          </a:p>
        </p:txBody>
      </p:sp>
      <p:sp>
        <p:nvSpPr>
          <p:cNvPr id="14" name="Text 12"/>
          <p:cNvSpPr/>
          <p:nvPr/>
        </p:nvSpPr>
        <p:spPr>
          <a:xfrm>
            <a:off x="4645152" y="2304288"/>
            <a:ext cx="295351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Static files are normalized to stay inside public. JSON strings are escaped before response.</a:t>
            </a:r>
            <a:endParaRPr lang="en-US" sz="1020" dirty="0"/>
          </a:p>
        </p:txBody>
      </p:sp>
      <p:sp>
        <p:nvSpPr>
          <p:cNvPr id="15" name="Shape 13"/>
          <p:cNvSpPr/>
          <p:nvPr/>
        </p:nvSpPr>
        <p:spPr>
          <a:xfrm>
            <a:off x="8092440" y="1828800"/>
            <a:ext cx="3337560" cy="1417320"/>
          </a:xfrm>
          <a:prstGeom prst="roundRect">
            <a:avLst>
              <a:gd name="adj" fmla="val 3871"/>
            </a:avLst>
          </a:prstGeom>
          <a:solidFill>
            <a:srgbClr val="FFFFFF"/>
          </a:solidFill>
          <a:ln w="12700">
            <a:solidFill>
              <a:srgbClr val="D7DEE8"/>
            </a:solidFill>
            <a:prstDash val="solid"/>
          </a:ln>
        </p:spPr>
      </p:sp>
      <p:sp>
        <p:nvSpPr>
          <p:cNvPr id="16" name="Shape 14"/>
          <p:cNvSpPr/>
          <p:nvPr/>
        </p:nvSpPr>
        <p:spPr>
          <a:xfrm>
            <a:off x="8092440" y="1828800"/>
            <a:ext cx="73152" cy="1417320"/>
          </a:xfrm>
          <a:prstGeom prst="rect">
            <a:avLst/>
          </a:prstGeom>
          <a:solidFill>
            <a:srgbClr val="C2410C"/>
          </a:solidFill>
          <a:ln w="12700">
            <a:solidFill>
              <a:srgbClr val="C2410C"/>
            </a:solidFill>
            <a:prstDash val="solid"/>
          </a:ln>
        </p:spPr>
      </p:sp>
      <p:sp>
        <p:nvSpPr>
          <p:cNvPr id="17" name="Text 15"/>
          <p:cNvSpPr/>
          <p:nvPr/>
        </p:nvSpPr>
        <p:spPr>
          <a:xfrm>
            <a:off x="8302752" y="1975104"/>
            <a:ext cx="2953512" cy="256032"/>
          </a:xfrm>
          <a:prstGeom prst="rect">
            <a:avLst/>
          </a:prstGeom>
          <a:noFill/>
          <a:ln/>
        </p:spPr>
        <p:txBody>
          <a:bodyPr wrap="square" lIns="0" tIns="0" rIns="0" bIns="0" rtlCol="0" anchor="ctr"/>
          <a:lstStyle/>
          <a:p>
            <a:pPr indent="0" marL="0">
              <a:buNone/>
            </a:pPr>
            <a:r>
              <a:rPr lang="en-US" sz="1250" b="1" dirty="0">
                <a:solidFill>
                  <a:srgbClr val="17212B"/>
                </a:solidFill>
              </a:rPr>
              <a:t>Limits</a:t>
            </a:r>
            <a:endParaRPr lang="en-US" sz="1250" dirty="0"/>
          </a:p>
        </p:txBody>
      </p:sp>
      <p:sp>
        <p:nvSpPr>
          <p:cNvPr id="18" name="Text 16"/>
          <p:cNvSpPr/>
          <p:nvPr/>
        </p:nvSpPr>
        <p:spPr>
          <a:xfrm>
            <a:off x="8302752" y="2304288"/>
            <a:ext cx="2953512" cy="85039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No real database, no login, no edit/delete, and possible XSS risk from dynamic innerHTML.</a:t>
            </a:r>
            <a:endParaRPr lang="en-US" sz="1020" dirty="0"/>
          </a:p>
        </p:txBody>
      </p:sp>
      <p:sp>
        <p:nvSpPr>
          <p:cNvPr id="19" name="Text 17"/>
          <p:cNvSpPr/>
          <p:nvPr/>
        </p:nvSpPr>
        <p:spPr>
          <a:xfrm>
            <a:off x="960120" y="4160520"/>
            <a:ext cx="9966960" cy="1051560"/>
          </a:xfrm>
          <a:prstGeom prst="rect">
            <a:avLst/>
          </a:prstGeom>
          <a:noFill/>
          <a:ln/>
        </p:spPr>
        <p:txBody>
          <a:bodyPr wrap="square" lIns="635" tIns="635" rIns="635" bIns="635" rtlCol="0" anchor="t">
            <a:normAutofit/>
          </a:bodyPr>
          <a:lstStyle/>
          <a:p>
            <a:pPr marL="190500" indent="-190500">
              <a:buSzPct val="100000"/>
              <a:buChar char="•"/>
            </a:pPr>
            <a:r>
              <a:rPr lang="en-US" sz="1450" dirty="0">
                <a:solidFill>
                  <a:srgbClr val="17212B"/>
                </a:solidFill>
              </a:rPr>
              <a:t>Best next upgrades: persistent database, authentication, search filters, and stronger input sanitization.</a:t>
            </a:r>
            <a:endParaRPr lang="en-US" sz="1450" dirty="0"/>
          </a:p>
          <a:p>
            <a:pPr marL="190500" indent="-190500">
              <a:buSzPct val="100000"/>
              <a:buChar char="•"/>
            </a:pPr>
            <a:r>
              <a:rPr lang="en-US" sz="1450" dirty="0">
                <a:solidFill>
                  <a:srgbClr val="17212B"/>
                </a:solidFill>
              </a:rPr>
              <a:t>This version focuses on proving the full stack request-response cycle.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Q&amp;A</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Expected Questions</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Short answers to prepare</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12</a:t>
            </a:r>
            <a:endParaRPr lang="en-US" sz="800" dirty="0"/>
          </a:p>
        </p:txBody>
      </p:sp>
      <p:sp>
        <p:nvSpPr>
          <p:cNvPr id="7" name="Text 5"/>
          <p:cNvSpPr/>
          <p:nvPr/>
        </p:nvSpPr>
        <p:spPr>
          <a:xfrm>
            <a:off x="822960" y="1737360"/>
            <a:ext cx="6492240" cy="3931920"/>
          </a:xfrm>
          <a:prstGeom prst="rect">
            <a:avLst/>
          </a:prstGeom>
          <a:noFill/>
          <a:ln/>
        </p:spPr>
        <p:txBody>
          <a:bodyPr wrap="square" lIns="635" tIns="635" rIns="635" bIns="635" rtlCol="0" anchor="t">
            <a:normAutofit/>
          </a:bodyPr>
          <a:lstStyle/>
          <a:p>
            <a:pPr marL="190500" indent="-190500">
              <a:buSzPct val="100000"/>
              <a:buChar char="•"/>
            </a:pPr>
            <a:r>
              <a:rPr lang="en-US" sz="1420" dirty="0">
                <a:solidFill>
                  <a:srgbClr val="17212B"/>
                </a:solidFill>
              </a:rPr>
              <a:t>What makes it full stack? Frontend, backend, API, and data layer.</a:t>
            </a:r>
            <a:endParaRPr lang="en-US" sz="1420" dirty="0"/>
          </a:p>
          <a:p>
            <a:pPr marL="190500" indent="-190500">
              <a:buSzPct val="100000"/>
              <a:buChar char="•"/>
            </a:pPr>
            <a:r>
              <a:rPr lang="en-US" sz="1420" dirty="0">
                <a:solidFill>
                  <a:srgbClr val="17212B"/>
                </a:solidFill>
              </a:rPr>
              <a:t>Where is the database? Currently in-memory; production would use SQL.</a:t>
            </a:r>
            <a:endParaRPr lang="en-US" sz="1420" dirty="0"/>
          </a:p>
          <a:p>
            <a:pPr marL="190500" indent="-190500">
              <a:buSzPct val="100000"/>
              <a:buChar char="•"/>
            </a:pPr>
            <a:r>
              <a:rPr lang="en-US" sz="1420" dirty="0">
                <a:solidFill>
                  <a:srgbClr val="17212B"/>
                </a:solidFill>
              </a:rPr>
              <a:t>Why JSON? It sends structured data between Java and JavaScript.</a:t>
            </a:r>
            <a:endParaRPr lang="en-US" sz="1420" dirty="0"/>
          </a:p>
          <a:p>
            <a:pPr marL="190500" indent="-190500">
              <a:buSzPct val="100000"/>
              <a:buChar char="•"/>
            </a:pPr>
            <a:r>
              <a:rPr lang="en-US" sz="1420" dirty="0">
                <a:solidFill>
                  <a:srgbClr val="17212B"/>
                </a:solidFill>
              </a:rPr>
              <a:t>What does GET do? Reads existing data.</a:t>
            </a:r>
            <a:endParaRPr lang="en-US" sz="1420" dirty="0"/>
          </a:p>
          <a:p>
            <a:pPr marL="190500" indent="-190500">
              <a:buSzPct val="100000"/>
              <a:buChar char="•"/>
            </a:pPr>
            <a:r>
              <a:rPr lang="en-US" sz="1420" dirty="0">
                <a:solidFill>
                  <a:srgbClr val="17212B"/>
                </a:solidFill>
              </a:rPr>
              <a:t>What does POST do? Creates new data.</a:t>
            </a:r>
            <a:endParaRPr lang="en-US" sz="1420" dirty="0"/>
          </a:p>
          <a:p>
            <a:pPr marL="190500" indent="-190500">
              <a:buSzPct val="100000"/>
              <a:buChar char="•"/>
            </a:pPr>
            <a:r>
              <a:rPr lang="en-US" sz="1420" dirty="0">
                <a:solidFill>
                  <a:srgbClr val="17212B"/>
                </a:solidFill>
              </a:rPr>
              <a:t>What would you improve? Database, login, search, edit/delete, security.</a:t>
            </a:r>
            <a:endParaRPr lang="en-US" sz="1420" dirty="0"/>
          </a:p>
        </p:txBody>
      </p:sp>
      <p:sp>
        <p:nvSpPr>
          <p:cNvPr id="8" name="Shape 6"/>
          <p:cNvSpPr/>
          <p:nvPr/>
        </p:nvSpPr>
        <p:spPr>
          <a:xfrm>
            <a:off x="7635240" y="2194560"/>
            <a:ext cx="3657600" cy="1965960"/>
          </a:xfrm>
          <a:prstGeom prst="roundRect">
            <a:avLst>
              <a:gd name="adj" fmla="val 2791"/>
            </a:avLst>
          </a:prstGeom>
          <a:solidFill>
            <a:srgbClr val="FFFFFF"/>
          </a:solidFill>
          <a:ln w="12700">
            <a:solidFill>
              <a:srgbClr val="D7DEE8"/>
            </a:solidFill>
            <a:prstDash val="solid"/>
          </a:ln>
        </p:spPr>
      </p:sp>
      <p:sp>
        <p:nvSpPr>
          <p:cNvPr id="9" name="Shape 7"/>
          <p:cNvSpPr/>
          <p:nvPr/>
        </p:nvSpPr>
        <p:spPr>
          <a:xfrm>
            <a:off x="7635240" y="2194560"/>
            <a:ext cx="73152" cy="1965960"/>
          </a:xfrm>
          <a:prstGeom prst="rect">
            <a:avLst/>
          </a:prstGeom>
          <a:solidFill>
            <a:srgbClr val="0F766E"/>
          </a:solidFill>
          <a:ln w="12700">
            <a:solidFill>
              <a:srgbClr val="0F766E"/>
            </a:solidFill>
            <a:prstDash val="solid"/>
          </a:ln>
        </p:spPr>
      </p:sp>
      <p:sp>
        <p:nvSpPr>
          <p:cNvPr id="10" name="Text 8"/>
          <p:cNvSpPr/>
          <p:nvPr/>
        </p:nvSpPr>
        <p:spPr>
          <a:xfrm>
            <a:off x="7845552" y="2340864"/>
            <a:ext cx="3273552" cy="256032"/>
          </a:xfrm>
          <a:prstGeom prst="rect">
            <a:avLst/>
          </a:prstGeom>
          <a:noFill/>
          <a:ln/>
        </p:spPr>
        <p:txBody>
          <a:bodyPr wrap="square" lIns="0" tIns="0" rIns="0" bIns="0" rtlCol="0" anchor="ctr"/>
          <a:lstStyle/>
          <a:p>
            <a:pPr indent="0" marL="0">
              <a:buNone/>
            </a:pPr>
            <a:r>
              <a:rPr lang="en-US" sz="1250" b="1" dirty="0">
                <a:solidFill>
                  <a:srgbClr val="17212B"/>
                </a:solidFill>
              </a:rPr>
              <a:t>Final defense</a:t>
            </a:r>
            <a:endParaRPr lang="en-US" sz="1250" dirty="0"/>
          </a:p>
        </p:txBody>
      </p:sp>
      <p:sp>
        <p:nvSpPr>
          <p:cNvPr id="11" name="Text 9"/>
          <p:cNvSpPr/>
          <p:nvPr/>
        </p:nvSpPr>
        <p:spPr>
          <a:xfrm>
            <a:off x="7845552" y="2670048"/>
            <a:ext cx="3273552" cy="139903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UniHub demonstrates the complete flow: user input -&gt; JavaScript -&gt; Java backend -&gt; data storage -&gt; JSON -&gt; updated UI.</a:t>
            </a:r>
            <a:endParaRPr lang="en-US" sz="10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1D4ED8"/>
                </a:solidFill>
              </a:rPr>
              <a:t>Closing</a:t>
            </a:r>
            <a:endParaRPr lang="en-US" sz="850" dirty="0"/>
          </a:p>
        </p:txBody>
      </p:sp>
      <p:sp>
        <p:nvSpPr>
          <p:cNvPr id="3" name="Shape 1"/>
          <p:cNvSpPr/>
          <p:nvPr/>
        </p:nvSpPr>
        <p:spPr>
          <a:xfrm>
            <a:off x="502920" y="566928"/>
            <a:ext cx="11155680" cy="0"/>
          </a:xfrm>
          <a:prstGeom prst="line">
            <a:avLst/>
          </a:prstGeom>
          <a:noFill/>
          <a:ln w="12700">
            <a:solidFill>
              <a:srgbClr val="D7DEE8"/>
            </a:solidFill>
            <a:prstDash val="solid"/>
          </a:ln>
        </p:spPr>
      </p:sp>
      <p:sp>
        <p:nvSpPr>
          <p:cNvPr id="4" name="Text 2"/>
          <p:cNvSpPr/>
          <p:nvPr/>
        </p:nvSpPr>
        <p:spPr>
          <a:xfrm>
            <a:off x="621792" y="786384"/>
            <a:ext cx="7680960" cy="502920"/>
          </a:xfrm>
          <a:prstGeom prst="rect">
            <a:avLst/>
          </a:prstGeom>
          <a:noFill/>
          <a:ln/>
        </p:spPr>
        <p:txBody>
          <a:bodyPr wrap="square" lIns="0" tIns="0" rIns="0" bIns="0" rtlCol="0" anchor="ct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Final Summary</a:t>
            </a:r>
            <a:endParaRPr lang="en-US" sz="2600" dirty="0"/>
          </a:p>
        </p:txBody>
      </p:sp>
      <p:sp>
        <p:nvSpPr>
          <p:cNvPr id="5" name="Text 3"/>
          <p:cNvSpPr/>
          <p:nvPr/>
        </p:nvSpPr>
        <p:spPr>
          <a:xfrm>
            <a:off x="640080" y="1353312"/>
            <a:ext cx="8138160" cy="310896"/>
          </a:xfrm>
          <a:prstGeom prst="rect">
            <a:avLst/>
          </a:prstGeom>
          <a:noFill/>
          <a:ln/>
        </p:spPr>
        <p:txBody>
          <a:bodyPr wrap="square" lIns="0" tIns="0" rIns="0" bIns="0" rtlCol="0" anchor="ctr"/>
          <a:lstStyle/>
          <a:p>
            <a:pPr indent="0" marL="0">
              <a:buNone/>
            </a:pPr>
            <a:r>
              <a:rPr lang="en-US" sz="1150" dirty="0">
                <a:solidFill>
                  <a:srgbClr val="5D6976"/>
                </a:solidFill>
              </a:rPr>
              <a:t>End with confidence</a:t>
            </a:r>
            <a:endParaRPr lang="en-US" sz="1150" dirty="0"/>
          </a:p>
        </p:txBody>
      </p:sp>
      <p:sp>
        <p:nvSpPr>
          <p:cNvPr id="6" name="Text 4"/>
          <p:cNvSpPr/>
          <p:nvPr/>
        </p:nvSpPr>
        <p:spPr>
          <a:xfrm>
            <a:off x="9921240" y="6519672"/>
            <a:ext cx="1828800" cy="182880"/>
          </a:xfrm>
          <a:prstGeom prst="rect">
            <a:avLst/>
          </a:prstGeom>
          <a:noFill/>
          <a:ln/>
        </p:spPr>
        <p:txBody>
          <a:bodyPr wrap="square" lIns="0" tIns="0" rIns="0" bIns="0" rtlCol="0" anchor="ctr"/>
          <a:lstStyle/>
          <a:p>
            <a:pPr algn="r" indent="0" marL="0">
              <a:buNone/>
            </a:pPr>
            <a:r>
              <a:rPr lang="en-US" sz="800" dirty="0">
                <a:solidFill>
                  <a:srgbClr val="8793A2"/>
                </a:solidFill>
              </a:rPr>
              <a:t>UniHub | 13</a:t>
            </a:r>
            <a:endParaRPr lang="en-US" sz="800" dirty="0"/>
          </a:p>
        </p:txBody>
      </p:sp>
      <p:sp>
        <p:nvSpPr>
          <p:cNvPr id="7" name="Text 5"/>
          <p:cNvSpPr/>
          <p:nvPr/>
        </p:nvSpPr>
        <p:spPr>
          <a:xfrm>
            <a:off x="1051560" y="1828800"/>
            <a:ext cx="10058400" cy="1828800"/>
          </a:xfrm>
          <a:prstGeom prst="rect">
            <a:avLst/>
          </a:prstGeom>
          <a:noFill/>
          <a:ln/>
        </p:spPr>
        <p:txBody>
          <a:bodyPr wrap="square" lIns="762" tIns="762" rIns="762" bIns="762" rtlCol="0" anchor="ctr">
            <a:normAutofit/>
          </a:bodyPr>
          <a:lstStyle/>
          <a:p>
            <a:pPr indent="0" marL="0">
              <a:buNone/>
            </a:pPr>
            <a:r>
              <a:rPr lang="en-US" sz="2000" b="1" dirty="0">
                <a:solidFill>
                  <a:srgbClr val="17212B"/>
                </a:solidFill>
              </a:rPr>
              <a:t>"UniHub is a full stack Java web application for student dorm listings and roommate matching. HTML creates the structure, CSS styles the interface, JavaScript communicates with the backend, and Java handles server routes, validation, data storage, and JSON responses."</a:t>
            </a:r>
            <a:endParaRPr lang="en-US" sz="2000" dirty="0"/>
          </a:p>
        </p:txBody>
      </p:sp>
      <p:sp>
        <p:nvSpPr>
          <p:cNvPr id="8" name="Shape 6"/>
          <p:cNvSpPr/>
          <p:nvPr/>
        </p:nvSpPr>
        <p:spPr>
          <a:xfrm>
            <a:off x="1828800" y="4434840"/>
            <a:ext cx="8503920" cy="868680"/>
          </a:xfrm>
          <a:prstGeom prst="roundRect">
            <a:avLst>
              <a:gd name="adj" fmla="val 6316"/>
            </a:avLst>
          </a:prstGeom>
          <a:solidFill>
            <a:srgbClr val="FFFFFF"/>
          </a:solidFill>
          <a:ln w="12700">
            <a:solidFill>
              <a:srgbClr val="D7DEE8"/>
            </a:solidFill>
            <a:prstDash val="solid"/>
          </a:ln>
        </p:spPr>
      </p:sp>
      <p:sp>
        <p:nvSpPr>
          <p:cNvPr id="9" name="Shape 7"/>
          <p:cNvSpPr/>
          <p:nvPr/>
        </p:nvSpPr>
        <p:spPr>
          <a:xfrm>
            <a:off x="1828800" y="4434840"/>
            <a:ext cx="73152" cy="868680"/>
          </a:xfrm>
          <a:prstGeom prst="rect">
            <a:avLst/>
          </a:prstGeom>
          <a:solidFill>
            <a:srgbClr val="1D4ED8"/>
          </a:solidFill>
          <a:ln w="12700">
            <a:solidFill>
              <a:srgbClr val="1D4ED8"/>
            </a:solidFill>
            <a:prstDash val="solid"/>
          </a:ln>
        </p:spPr>
      </p:sp>
      <p:sp>
        <p:nvSpPr>
          <p:cNvPr id="10" name="Text 8"/>
          <p:cNvSpPr/>
          <p:nvPr/>
        </p:nvSpPr>
        <p:spPr>
          <a:xfrm>
            <a:off x="2039112" y="4581144"/>
            <a:ext cx="8119872" cy="256032"/>
          </a:xfrm>
          <a:prstGeom prst="rect">
            <a:avLst/>
          </a:prstGeom>
          <a:noFill/>
          <a:ln/>
        </p:spPr>
        <p:txBody>
          <a:bodyPr wrap="square" lIns="0" tIns="0" rIns="0" bIns="0" rtlCol="0" anchor="ctr"/>
          <a:lstStyle/>
          <a:p>
            <a:pPr indent="0" marL="0">
              <a:buNone/>
            </a:pPr>
            <a:r>
              <a:rPr lang="en-US" sz="1250" b="1" dirty="0">
                <a:solidFill>
                  <a:srgbClr val="17212B"/>
                </a:solidFill>
              </a:rPr>
              <a:t>Memorize this</a:t>
            </a:r>
            <a:endParaRPr lang="en-US" sz="1250" dirty="0"/>
          </a:p>
        </p:txBody>
      </p:sp>
      <p:sp>
        <p:nvSpPr>
          <p:cNvPr id="11" name="Text 9"/>
          <p:cNvSpPr/>
          <p:nvPr/>
        </p:nvSpPr>
        <p:spPr>
          <a:xfrm>
            <a:off x="2039112" y="4910328"/>
            <a:ext cx="8119872" cy="301752"/>
          </a:xfrm>
          <a:prstGeom prst="rect">
            <a:avLst/>
          </a:prstGeom>
          <a:noFill/>
          <a:ln/>
        </p:spPr>
        <p:txBody>
          <a:bodyPr wrap="square" lIns="254" tIns="254" rIns="254" bIns="254" rtlCol="0" anchor="t">
            <a:normAutofit/>
          </a:bodyPr>
          <a:lstStyle/>
          <a:p>
            <a:pPr indent="0" marL="0">
              <a:buNone/>
            </a:pPr>
            <a:r>
              <a:rPr lang="en-US" sz="1020" dirty="0">
                <a:solidFill>
                  <a:srgbClr val="5D6976"/>
                </a:solidFill>
              </a:rPr>
              <a:t>The project is a working full stack demo. Its main limitation is no persistent database yet.</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UniHub Presentation</dc:title>
  <dc:subject>UniHub full stack project presentation</dc:subject>
  <dc:creator>UniHub</dc:creator>
  <cp:lastModifiedBy>UniHub</cp:lastModifiedBy>
  <cp:revision>1</cp:revision>
  <dcterms:created xsi:type="dcterms:W3CDTF">2026-05-08T12:41:54Z</dcterms:created>
  <dcterms:modified xsi:type="dcterms:W3CDTF">2026-05-08T12:41:54Z</dcterms:modified>
</cp:coreProperties>
</file>